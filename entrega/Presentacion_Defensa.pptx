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Explicación (30 s). «Buenos días. Mi nombre es […] y presento el proyecto "Sistema de Tutorías y Modalidades de Grado", desarrollado dentro de la asignatura […]. El objetivo del trabajo es automatizar dos procesos que hasta ahora se manejan de forma manual: la gestión de las tutorías y la gestión de las modalidades de grado. En los siguientes minutos presentaré el problema, la solución, la arquitectura del sistema, el modelo de datos, la seguridad y los resultados obtenidos.»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Explicación (1 min). «El problema central era la dispersión de la información. Una misma estudiante podía tener su declaración en una planilla, sus avales en una carpeta y el estado de su expediente en un correo. Esto generaba pérdida de trazabilidad y dependía de una sola persona. El sistema propuesto centraliza esa información y garantiza que cada cambio quede registrado.»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Explicación (1 min). «Los objetivos se formularon de manera que cada uno pudiera verificarse. Los dos primeros son funcionales. El tercero se verifica mediante la matriz de permisos. El cuarto, mediante las restricciones del esquema. El quinto, mediante el despliegue con Docker. Y el sexto, mediante los doce documentos entregados.»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Explicación (1 min). «El sistema define cinco roles, que reflejan la estructura real de la institución. Cada rol tiene un alcance distinto: el administrador opera sobre todo el sistema; el tutor y el estudiante participan en el proceso de tutoría; y dentro del módulo de modalidades de grado, el coordinador toma las decisiones de aprobación mientras que el auxiliar ejecuta las tareas operativas. Esta separación entre decisión y ejecución es clave para el control del proceso.»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Explicación (1.5 min). «Este es el diagrama de casos de uso. Se especificaron 27 casos organizados en cuatro módulos. Hay que destacar las relaciones de inclusão y extensión: la revisión de una declaración incluye la verificación de los avales, y el registro del acta incluye el cálculo de la nota final según los parámetros configurados. El cambio de estado, por su parte, extiende el caso de notificaciones. Nótese que el estudiante no accede a la gestión de avales ni a la revisión: su participación en el módulo de grado se limita a declarar y seguir su proceso.»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Explicación (1 min). «Se especificaron 83 requisitos funcionales y 43 no funcionales. Un aspecto importante es que los requisitos no funcionales no se dejaron como declaraciones generales: cada uno tiene un criterio de aceptación verificable. Por ejemplo, el requisito de seguridad de contraseñas tiene como criterio "el campo almacenado es un hash bcrypt", y el de rendimiento, "la consulta del panel responde en menos de dos segundos con diez mil registros".»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Explicación (1.5 min). «La arquitectura sigue el patrón Modelo-Vista-Controlador con un front controller único. La petición entra por un solo punto, se resuelve la ruta y se entrega al controlador correspondiente. El controlador verifica el permiso, valida la entrada y llama al modelo; el modelo ejecuta consultas preparadas y devuelve los datos; finalmente la vista genera el HTML escapando toda salida dinámica. Un detalle relevante: la base de datos no se expone al exterior, solo es accesible desde la red interna de los contenedores.»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Explicación (1.5 min). «El modelo tiene 33 tablas organizadas en cuatro dominios. Aquí se muestra el núcleo del módulo de tutorías. Las decisiones más relevantes son: la tabla puente tutor_materia, que resuelve la relación de muchos a muchos entre tutores y materias; la relación uno a uno entre tutorias y evaluaciones, que garantiza que una tutoría se evalúe una sola vez; y el uso de campos ENUM para los estados, que hace que el propio motor de base de datos rechace valores no contemplados en el modelo.»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Explicación (1.5 min). «Estas son las dos máquinas de estado que gobiernan los procesos centrales. Lo relevante es que las transiciones están controladas: el sistema impide, por ejemplo, pasar de pendiente a realizada, o evaluar una tutoría que no se ha realizado. Además, hay una diferencia de diseño entre ambos ciclos: en la tutoría la cancelación es una salida normal del proceso, mientras que en la declaración la transición a en revisión puede devolver el caso al estudiante para ajustes, generando así un ciclo de corrección antes de la decisión final.»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Explicación (1.5 min). «La seguridad se aplicó por capas, desde el arranque de la sesión hasta la entrega de la respuesta. El punto más importante es que la protección no depende de la disciplina del programador: las consultas preparadas y la capa centralizada de permisos son estructurales, es decir, el sistema no ofrece una forma de consultar la base de datos sin parametrización. Se implementaron veinticuatro controles, documentados con su amenaza asociada en el documento de seguridad.»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Explicación (1 min). «Todas las tecnologías utilizadas son de código abierto. La restricción más significativa fue no poder usar frameworks PHP, lo que obligó a implementar manualmente el enrutamiento, la capa de datos y los mecanismos de seguridad. Esa decisión, que en el momento limitaba el desarrollo, se convirtió después en la principal fuente de aprendizaje del proyecto. La segunda decisión relevante fue usar Vue.js desde el CDN: evita tener una cadena de compilación en el despliegue y mantiene el sistema simple de instalar.»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Explicación (1 min). «Se definieron 120 casos de prueba, de los cuales el sesenta y cinco por ciento son de prioridad alta, es decir, verifican funcionalidades esenciales. Cada caso tiene trazabilidad explícita a los requisitos que valida, de modo que es posible verificar que no existe ningún requisito sin prueba asociada. Los casos de seguridad comprueban que un intento de inyección SQL se trata como texto, que un token CSRF alterado rechaza la operación y que un tutor no puede acceder a las tutorías de otro tutor.»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Explicación (1 min). «Como todo sistema tiene límites, los identificamos y los documentamos de manera explícita. Las limitaciones más significativas son la ausencia de caché y de paginación completa, que se irán agravando con el crecimiento de los datos; y la ausencia de cifrado en reposo y de segundo factor de autenticación, que serían los primeros puntos a reforzar para un uso productivo. Documentar estas limitaciones es tan importante como documentar las funcionalidades, porque define el alcance real del sistema.»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Explicación (1 min). «El trabajo futuro se organizó en tres horizontes. A corto plazo, las acciones con mayor efecto son la paginación, el cifrado en reposo y las notificaciones por correo, porque atacan directamente las limitaciones más citadas. A mediano plazo se establecerían la caché y la generación de PDF. Y a largo plazo se abriría el sistema a la integración con los demás servicios institucionales y a una aplicación móvil. Se documentaron cuarenta líneas de trabajo, priorizadas y justificadas en el documento correspondiente.»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Explicación (1 min). «Para cerrar, resumo los resultados: dos módulos funcionales completos, cinco roles con permisos diferenciados, 33 tablas, 24 controles de seguridad, 120 casos de prueba y 12 documentos de entrega. El sistema cumple con los objetivos propuestos y representa una base sólida para su uso en el contexto académico. Muchas gracias por su atención. Quedo atento a sus preguntas.»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D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1695" cy="91440"/>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0" y="6766560"/>
            <a:ext cx="12191695" cy="91440"/>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60120" y="713232"/>
            <a:ext cx="10271455" cy="822960"/>
          </a:xfrm>
          <a:prstGeom prst="rect">
            <a:avLst/>
          </a:prstGeom>
          <a:noFill/>
        </p:spPr>
        <p:txBody>
          <a:bodyPr wrap="square" anchor="t" lIns="0" rIns="0" tIns="0" bIns="0">
            <a:spAutoFit/>
          </a:bodyPr>
          <a:lstStyle/>
          <a:p>
            <a:pPr algn="ctr">
              <a:lnSpc>
                <a:spcPct val="95000"/>
              </a:lnSpc>
              <a:spcBef>
                <a:spcPts val="0"/>
              </a:spcBef>
              <a:spcAft>
                <a:spcPts val="300"/>
              </a:spcAft>
            </a:pPr>
            <a:r>
              <a:rPr sz="2500" b="1" i="0">
                <a:solidFill>
                  <a:srgbClr val="FFFFFF"/>
                </a:solidFill>
                <a:latin typeface="Calibri"/>
              </a:rPr>
              <a:t>UNIVERSIDAD PRIVADA DOMINGO SAVIO</a:t>
            </a:r>
          </a:p>
          <a:p>
            <a:pPr algn="ctr">
              <a:lnSpc>
                <a:spcPct val="95000"/>
              </a:lnSpc>
              <a:spcBef>
                <a:spcPts val="0"/>
              </a:spcBef>
              <a:spcAft>
                <a:spcPts val="0"/>
              </a:spcAft>
            </a:pPr>
            <a:r>
              <a:rPr sz="1300" b="0" i="0">
                <a:solidFill>
                  <a:srgbClr val="D9B24A"/>
                </a:solidFill>
                <a:latin typeface="Calibri"/>
              </a:rPr>
              <a:t>Facultad de Ingenieria en Sistemas</a:t>
            </a:r>
          </a:p>
        </p:txBody>
      </p:sp>
      <p:sp>
        <p:nvSpPr>
          <p:cNvPr id="6" name="Rectangle 5"/>
          <p:cNvSpPr/>
          <p:nvPr/>
        </p:nvSpPr>
        <p:spPr>
          <a:xfrm>
            <a:off x="5318607" y="1700784"/>
            <a:ext cx="1554480" cy="27432"/>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60120" y="2029968"/>
            <a:ext cx="10271455" cy="365760"/>
          </a:xfrm>
          <a:prstGeom prst="rect">
            <a:avLst/>
          </a:prstGeom>
          <a:noFill/>
        </p:spPr>
        <p:txBody>
          <a:bodyPr wrap="square" anchor="t" lIns="0" rIns="0" tIns="0" bIns="0">
            <a:spAutoFit/>
          </a:bodyPr>
          <a:lstStyle/>
          <a:p>
            <a:pPr algn="ctr">
              <a:lnSpc>
                <a:spcPct val="95000"/>
              </a:lnSpc>
              <a:spcBef>
                <a:spcPts val="0"/>
              </a:spcBef>
              <a:spcAft>
                <a:spcPts val="0"/>
              </a:spcAft>
            </a:pPr>
            <a:r>
              <a:rPr sz="1250" b="0" i="0">
                <a:solidFill>
                  <a:srgbClr val="C6D3E6"/>
                </a:solidFill>
                <a:latin typeface="Calibri"/>
              </a:rPr>
              <a:t>Ingenieria en Sistemas  ·  Tecnologias Web</a:t>
            </a:r>
          </a:p>
        </p:txBody>
      </p:sp>
      <p:sp>
        <p:nvSpPr>
          <p:cNvPr id="8" name="TextBox 7"/>
          <p:cNvSpPr txBox="1"/>
          <p:nvPr/>
        </p:nvSpPr>
        <p:spPr>
          <a:xfrm>
            <a:off x="822960" y="2615184"/>
            <a:ext cx="10545775" cy="1371600"/>
          </a:xfrm>
          <a:prstGeom prst="rect">
            <a:avLst/>
          </a:prstGeom>
          <a:noFill/>
        </p:spPr>
        <p:txBody>
          <a:bodyPr wrap="square" anchor="t" lIns="0" rIns="0" tIns="0" bIns="0">
            <a:spAutoFit/>
          </a:bodyPr>
          <a:lstStyle/>
          <a:p>
            <a:pPr algn="ctr">
              <a:lnSpc>
                <a:spcPct val="92000"/>
              </a:lnSpc>
              <a:spcBef>
                <a:spcPts val="0"/>
              </a:spcBef>
              <a:spcAft>
                <a:spcPts val="800"/>
              </a:spcAft>
            </a:pPr>
            <a:r>
              <a:rPr sz="4000" b="1" i="0">
                <a:solidFill>
                  <a:srgbClr val="FFFFFF"/>
                </a:solidFill>
                <a:latin typeface="Calibri"/>
              </a:rPr>
              <a:t>Sistema de Tutorias y Modalidades de Grado</a:t>
            </a:r>
          </a:p>
          <a:p>
            <a:pPr algn="ctr">
              <a:lnSpc>
                <a:spcPct val="95000"/>
              </a:lnSpc>
              <a:spcBef>
                <a:spcPts val="0"/>
              </a:spcBef>
              <a:spcAft>
                <a:spcPts val="0"/>
              </a:spcAft>
            </a:pPr>
            <a:r>
              <a:rPr sz="1500" b="1" i="0">
                <a:solidFill>
                  <a:srgbClr val="D9B24A"/>
                </a:solidFill>
                <a:latin typeface="Calibri"/>
              </a:rPr>
              <a:t>DEFENSA DE PROYECTO</a:t>
            </a:r>
          </a:p>
        </p:txBody>
      </p:sp>
      <p:sp>
        <p:nvSpPr>
          <p:cNvPr id="9" name="Rectangle 8"/>
          <p:cNvSpPr/>
          <p:nvPr/>
        </p:nvSpPr>
        <p:spPr>
          <a:xfrm>
            <a:off x="1737360" y="4224528"/>
            <a:ext cx="8716975" cy="20116"/>
          </a:xfrm>
          <a:prstGeom prst="rect">
            <a:avLst/>
          </a:prstGeom>
          <a:solidFill>
            <a:srgbClr val="3C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443984"/>
            <a:ext cx="10180015" cy="292608"/>
          </a:xfrm>
          <a:prstGeom prst="rect">
            <a:avLst/>
          </a:prstGeom>
          <a:noFill/>
        </p:spPr>
        <p:txBody>
          <a:bodyPr wrap="square" anchor="t" lIns="0" rIns="0" tIns="0" bIns="0">
            <a:spAutoFit/>
          </a:bodyPr>
          <a:lstStyle/>
          <a:p>
            <a:pPr algn="ctr">
              <a:lnSpc>
                <a:spcPct val="95000"/>
              </a:lnSpc>
              <a:spcBef>
                <a:spcPts val="0"/>
              </a:spcBef>
              <a:spcAft>
                <a:spcPts val="600"/>
              </a:spcAft>
            </a:pPr>
            <a:r>
              <a:rPr sz="1050" b="1" i="0">
                <a:solidFill>
                  <a:srgbClr val="D9B24A"/>
                </a:solidFill>
                <a:latin typeface="Calibri"/>
              </a:rPr>
              <a:t>INTEGRANTES</a:t>
            </a:r>
          </a:p>
        </p:txBody>
      </p:sp>
      <p:sp>
        <p:nvSpPr>
          <p:cNvPr id="11" name="TextBox 10"/>
          <p:cNvSpPr txBox="1"/>
          <p:nvPr/>
        </p:nvSpPr>
        <p:spPr>
          <a:xfrm>
            <a:off x="1005840" y="4718304"/>
            <a:ext cx="10180015" cy="969264"/>
          </a:xfrm>
          <a:prstGeom prst="rect">
            <a:avLst/>
          </a:prstGeom>
          <a:noFill/>
        </p:spPr>
        <p:txBody>
          <a:bodyPr wrap="square" anchor="t" lIns="0" rIns="0" tIns="0" bIns="0">
            <a:spAutoFit/>
          </a:bodyPr>
          <a:lstStyle/>
          <a:p>
            <a:pPr algn="ctr">
              <a:lnSpc>
                <a:spcPct val="100000"/>
              </a:lnSpc>
              <a:spcBef>
                <a:spcPts val="0"/>
              </a:spcBef>
              <a:spcAft>
                <a:spcPts val="200"/>
              </a:spcAft>
            </a:pPr>
            <a:r>
              <a:rPr sz="1350" b="0" i="0">
                <a:solidFill>
                  <a:srgbClr val="FFFFFF"/>
                </a:solidFill>
                <a:latin typeface="Calibri"/>
              </a:rPr>
              <a:t>Edilzon Jorge Katty Quispe</a:t>
            </a:r>
          </a:p>
          <a:p>
            <a:pPr algn="ctr">
              <a:lnSpc>
                <a:spcPct val="100000"/>
              </a:lnSpc>
              <a:spcBef>
                <a:spcPts val="0"/>
              </a:spcBef>
              <a:spcAft>
                <a:spcPts val="200"/>
              </a:spcAft>
            </a:pPr>
            <a:r>
              <a:rPr sz="1350" b="0" i="0">
                <a:solidFill>
                  <a:srgbClr val="FFFFFF"/>
                </a:solidFill>
                <a:latin typeface="Calibri"/>
              </a:rPr>
              <a:t>Yamil Nieves Trujillo</a:t>
            </a:r>
          </a:p>
          <a:p>
            <a:pPr algn="ctr">
              <a:lnSpc>
                <a:spcPct val="100000"/>
              </a:lnSpc>
              <a:spcBef>
                <a:spcPts val="0"/>
              </a:spcBef>
              <a:spcAft>
                <a:spcPts val="200"/>
              </a:spcAft>
            </a:pPr>
            <a:r>
              <a:rPr sz="1350" b="0" i="0">
                <a:solidFill>
                  <a:srgbClr val="FFFFFF"/>
                </a:solidFill>
                <a:latin typeface="Calibri"/>
              </a:rPr>
              <a:t>Sergio Estrada S.</a:t>
            </a:r>
          </a:p>
          <a:p>
            <a:pPr algn="ctr">
              <a:lnSpc>
                <a:spcPct val="100000"/>
              </a:lnSpc>
              <a:spcBef>
                <a:spcPts val="0"/>
              </a:spcBef>
              <a:spcAft>
                <a:spcPts val="200"/>
              </a:spcAft>
            </a:pPr>
            <a:r>
              <a:rPr sz="1350" b="0" i="0">
                <a:solidFill>
                  <a:srgbClr val="FFFFFF"/>
                </a:solidFill>
                <a:latin typeface="Calibri"/>
              </a:rPr>
              <a:t>Ximena Calcina B.</a:t>
            </a:r>
          </a:p>
        </p:txBody>
      </p:sp>
      <p:sp>
        <p:nvSpPr>
          <p:cNvPr id="12" name="TextBox 11"/>
          <p:cNvSpPr txBox="1"/>
          <p:nvPr/>
        </p:nvSpPr>
        <p:spPr>
          <a:xfrm>
            <a:off x="1005840" y="5632704"/>
            <a:ext cx="10180015" cy="310896"/>
          </a:xfrm>
          <a:prstGeom prst="rect">
            <a:avLst/>
          </a:prstGeom>
          <a:noFill/>
        </p:spPr>
        <p:txBody>
          <a:bodyPr wrap="square" anchor="t" lIns="0" rIns="0" tIns="0" bIns="0">
            <a:spAutoFit/>
          </a:bodyPr>
          <a:lstStyle/>
          <a:p>
            <a:pPr algn="ctr">
              <a:lnSpc>
                <a:spcPct val="95000"/>
              </a:lnSpc>
              <a:spcBef>
                <a:spcPts val="0"/>
              </a:spcBef>
              <a:spcAft>
                <a:spcPts val="0"/>
              </a:spcAft>
            </a:pPr>
            <a:r>
              <a:rPr sz="1150" b="0" i="0">
                <a:solidFill>
                  <a:srgbClr val="C6D3E6"/>
                </a:solidFill>
                <a:latin typeface="Calibri"/>
              </a:rPr>
              <a:t>Docente: Jose Jonathan Cardozo Romay   ·   28/09/2026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42D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146304"/>
            <a:ext cx="12191695" cy="3200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66928" y="384048"/>
            <a:ext cx="11057839" cy="566928"/>
          </a:xfrm>
          <a:prstGeom prst="rect">
            <a:avLst/>
          </a:prstGeom>
          <a:noFill/>
        </p:spPr>
        <p:txBody>
          <a:bodyPr wrap="square" anchor="t" lIns="0" rIns="0" tIns="0" bIns="0">
            <a:spAutoFit/>
          </a:bodyPr>
          <a:lstStyle/>
          <a:p>
            <a:pPr algn="l">
              <a:lnSpc>
                <a:spcPct val="90000"/>
              </a:lnSpc>
              <a:spcBef>
                <a:spcPts val="0"/>
              </a:spcBef>
              <a:spcAft>
                <a:spcPts val="0"/>
              </a:spcAft>
            </a:pPr>
            <a:r>
              <a:rPr sz="2700" b="1" i="0">
                <a:solidFill>
                  <a:srgbClr val="142D5A"/>
                </a:solidFill>
                <a:latin typeface="Calibri"/>
              </a:rPr>
              <a:t>Problema y justificación</a:t>
            </a:r>
          </a:p>
        </p:txBody>
      </p:sp>
      <p:sp>
        <p:nvSpPr>
          <p:cNvPr id="5" name="Rectangle 4"/>
          <p:cNvSpPr/>
          <p:nvPr/>
        </p:nvSpPr>
        <p:spPr>
          <a:xfrm>
            <a:off x="566928" y="1115568"/>
            <a:ext cx="11057839" cy="20116"/>
          </a:xfrm>
          <a:prstGeom prst="rect">
            <a:avLst/>
          </a:prstGeom>
          <a:solidFill>
            <a:srgbClr val="C6D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6382512"/>
            <a:ext cx="10600639" cy="274320"/>
          </a:xfrm>
          <a:prstGeom prst="rect">
            <a:avLst/>
          </a:prstGeom>
          <a:noFill/>
        </p:spPr>
        <p:txBody>
          <a:bodyPr wrap="square" anchor="t" lIns="0" rIns="0" tIns="0" bIns="0">
            <a:spAutoFit/>
          </a:bodyPr>
          <a:lstStyle/>
          <a:p>
            <a:pPr algn="l">
              <a:lnSpc>
                <a:spcPct val="95000"/>
              </a:lnSpc>
              <a:spcBef>
                <a:spcPts val="0"/>
              </a:spcBef>
              <a:spcAft>
                <a:spcPts val="0"/>
              </a:spcAft>
            </a:pPr>
            <a:r>
              <a:rPr sz="850" b="0" i="0">
                <a:solidFill>
                  <a:srgbClr val="505A6B"/>
                </a:solidFill>
                <a:latin typeface="Calibri"/>
              </a:rPr>
              <a:t>UNIVERSIDAD PRIVADA DOMINGO SAVIO  ·  Sistema de Tutorias y Modalidades de Grado  ·  Grupo 7</a:t>
            </a:r>
          </a:p>
        </p:txBody>
      </p:sp>
      <p:sp>
        <p:nvSpPr>
          <p:cNvPr id="7" name="TextBox 6"/>
          <p:cNvSpPr txBox="1"/>
          <p:nvPr/>
        </p:nvSpPr>
        <p:spPr>
          <a:xfrm>
            <a:off x="11121847" y="6382512"/>
            <a:ext cx="502920" cy="274320"/>
          </a:xfrm>
          <a:prstGeom prst="rect">
            <a:avLst/>
          </a:prstGeom>
          <a:noFill/>
        </p:spPr>
        <p:txBody>
          <a:bodyPr wrap="square" anchor="t" lIns="0" rIns="0" tIns="0" bIns="0">
            <a:spAutoFit/>
          </a:bodyPr>
          <a:lstStyle/>
          <a:p>
            <a:pPr algn="r">
              <a:lnSpc>
                <a:spcPct val="95000"/>
              </a:lnSpc>
              <a:spcBef>
                <a:spcPts val="0"/>
              </a:spcBef>
              <a:spcAft>
                <a:spcPts val="0"/>
              </a:spcAft>
            </a:pPr>
            <a:r>
              <a:rPr sz="950" b="1" i="0">
                <a:solidFill>
                  <a:srgbClr val="142D5A"/>
                </a:solidFill>
                <a:latin typeface="Calibri"/>
              </a:rPr>
              <a:t>2 / 15</a:t>
            </a:r>
          </a:p>
        </p:txBody>
      </p:sp>
      <p:sp>
        <p:nvSpPr>
          <p:cNvPr id="8" name="Rectangle 7"/>
          <p:cNvSpPr/>
          <p:nvPr/>
        </p:nvSpPr>
        <p:spPr>
          <a:xfrm>
            <a:off x="566928" y="1481328"/>
            <a:ext cx="11057839" cy="25603"/>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66928" y="1545336"/>
            <a:ext cx="11057839" cy="237744"/>
          </a:xfrm>
          <a:prstGeom prst="rect">
            <a:avLst/>
          </a:prstGeom>
          <a:noFill/>
        </p:spPr>
        <p:txBody>
          <a:bodyPr wrap="square" anchor="t" lIns="0" rIns="0" tIns="0" bIns="0">
            <a:spAutoFit/>
          </a:bodyPr>
          <a:lstStyle/>
          <a:p>
            <a:pPr algn="l">
              <a:lnSpc>
                <a:spcPct val="95000"/>
              </a:lnSpc>
              <a:spcBef>
                <a:spcPts val="0"/>
              </a:spcBef>
              <a:spcAft>
                <a:spcPts val="0"/>
              </a:spcAft>
            </a:pPr>
            <a:r>
              <a:rPr sz="1150" b="1" i="0">
                <a:solidFill>
                  <a:srgbClr val="142D5A"/>
                </a:solidFill>
                <a:latin typeface="Calibri"/>
              </a:rPr>
              <a:t>SITUACIÓN ACTUAL</a:t>
            </a:r>
          </a:p>
        </p:txBody>
      </p:sp>
      <p:sp>
        <p:nvSpPr>
          <p:cNvPr id="10" name="TextBox 9"/>
          <p:cNvSpPr txBox="1"/>
          <p:nvPr/>
        </p:nvSpPr>
        <p:spPr>
          <a:xfrm>
            <a:off x="566928" y="1810512"/>
            <a:ext cx="11057839" cy="1479740"/>
          </a:xfrm>
          <a:prstGeom prst="rect">
            <a:avLst/>
          </a:prstGeom>
          <a:noFill/>
        </p:spPr>
        <p:txBody>
          <a:bodyPr wrap="square" anchor="t" lIns="0" rIns="0" tIns="0" bIns="0">
            <a:spAutoFit/>
          </a:bodyPr>
          <a:lstStyle/>
          <a:p>
            <a:pPr algn="l">
              <a:lnSpc>
                <a:spcPct val="95000"/>
              </a:lnSpc>
              <a:spcBef>
                <a:spcPts val="0"/>
              </a:spcBef>
              <a:spcAft>
                <a:spcPts val="300"/>
              </a:spcAft>
            </a:pPr>
            <a:r>
              <a:rPr sz="1700" b="0" i="0">
                <a:solidFill>
                  <a:srgbClr val="252525"/>
                </a:solidFill>
                <a:latin typeface="Calibri"/>
              </a:rPr>
              <a:t>▪  Las ofertas de tutoría se coordinan por medios informales.</a:t>
            </a:r>
          </a:p>
          <a:p>
            <a:pPr algn="l">
              <a:lnSpc>
                <a:spcPct val="95000"/>
              </a:lnSpc>
              <a:spcBef>
                <a:spcPts val="0"/>
              </a:spcBef>
              <a:spcAft>
                <a:spcPts val="300"/>
              </a:spcAft>
            </a:pPr>
            <a:r>
              <a:rPr sz="1700" b="0" i="0">
                <a:solidFill>
                  <a:srgbClr val="252525"/>
                </a:solidFill>
                <a:latin typeface="Calibri"/>
              </a:rPr>
              <a:t>▪  La disponibilidad de los tutores se lleva en cuadernos o archivos dispersos.</a:t>
            </a:r>
          </a:p>
          <a:p>
            <a:pPr algn="l">
              <a:lnSpc>
                <a:spcPct val="95000"/>
              </a:lnSpc>
              <a:spcBef>
                <a:spcPts val="0"/>
              </a:spcBef>
              <a:spcAft>
                <a:spcPts val="300"/>
              </a:spcAft>
            </a:pPr>
            <a:r>
              <a:rPr sz="1700" b="0" i="0">
                <a:solidFill>
                  <a:srgbClr val="252525"/>
                </a:solidFill>
                <a:latin typeface="Calibri"/>
              </a:rPr>
              <a:t>▪  Los procesos de modalidad de grado se siguen con planillas dispersas.</a:t>
            </a:r>
          </a:p>
          <a:p>
            <a:pPr algn="l">
              <a:lnSpc>
                <a:spcPct val="95000"/>
              </a:lnSpc>
              <a:spcBef>
                <a:spcPts val="0"/>
              </a:spcBef>
              <a:spcAft>
                <a:spcPts val="300"/>
              </a:spcAft>
            </a:pPr>
            <a:r>
              <a:rPr sz="1700" b="0" i="0">
                <a:solidFill>
                  <a:srgbClr val="252525"/>
                </a:solidFill>
                <a:latin typeface="Calibri"/>
              </a:rPr>
              <a:t>▪  Los expedientes, avales y actas se archivan en carpetas físicas.</a:t>
            </a:r>
          </a:p>
          <a:p>
            <a:pPr algn="l">
              <a:lnSpc>
                <a:spcPct val="95000"/>
              </a:lnSpc>
              <a:spcBef>
                <a:spcPts val="0"/>
              </a:spcBef>
              <a:spcAft>
                <a:spcPts val="300"/>
              </a:spcAft>
            </a:pPr>
            <a:r>
              <a:rPr sz="1700" b="0" i="0">
                <a:solidFill>
                  <a:srgbClr val="252525"/>
                </a:solidFill>
                <a:latin typeface="Calibri"/>
              </a:rPr>
              <a:t>▪  No existe un historial centralizado de cambios de estado.</a:t>
            </a:r>
          </a:p>
        </p:txBody>
      </p:sp>
      <p:sp>
        <p:nvSpPr>
          <p:cNvPr id="11" name="Rectangle 10"/>
          <p:cNvSpPr/>
          <p:nvPr/>
        </p:nvSpPr>
        <p:spPr>
          <a:xfrm>
            <a:off x="566928" y="3399980"/>
            <a:ext cx="11057839" cy="25603"/>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66928" y="3463988"/>
            <a:ext cx="11057839" cy="237744"/>
          </a:xfrm>
          <a:prstGeom prst="rect">
            <a:avLst/>
          </a:prstGeom>
          <a:noFill/>
        </p:spPr>
        <p:txBody>
          <a:bodyPr wrap="square" anchor="t" lIns="0" rIns="0" tIns="0" bIns="0">
            <a:spAutoFit/>
          </a:bodyPr>
          <a:lstStyle/>
          <a:p>
            <a:pPr algn="l">
              <a:lnSpc>
                <a:spcPct val="95000"/>
              </a:lnSpc>
              <a:spcBef>
                <a:spcPts val="0"/>
              </a:spcBef>
              <a:spcAft>
                <a:spcPts val="0"/>
              </a:spcAft>
            </a:pPr>
            <a:r>
              <a:rPr sz="1150" b="1" i="0">
                <a:solidFill>
                  <a:srgbClr val="142D5A"/>
                </a:solidFill>
                <a:latin typeface="Calibri"/>
              </a:rPr>
              <a:t>CONSECUENCIAS</a:t>
            </a:r>
          </a:p>
        </p:txBody>
      </p:sp>
      <p:sp>
        <p:nvSpPr>
          <p:cNvPr id="13" name="TextBox 12"/>
          <p:cNvSpPr txBox="1"/>
          <p:nvPr/>
        </p:nvSpPr>
        <p:spPr>
          <a:xfrm>
            <a:off x="566928" y="3729164"/>
            <a:ext cx="11057839" cy="1183792"/>
          </a:xfrm>
          <a:prstGeom prst="rect">
            <a:avLst/>
          </a:prstGeom>
          <a:noFill/>
        </p:spPr>
        <p:txBody>
          <a:bodyPr wrap="square" anchor="t" lIns="0" rIns="0" tIns="0" bIns="0">
            <a:spAutoFit/>
          </a:bodyPr>
          <a:lstStyle/>
          <a:p>
            <a:pPr algn="l">
              <a:lnSpc>
                <a:spcPct val="95000"/>
              </a:lnSpc>
              <a:spcBef>
                <a:spcPts val="0"/>
              </a:spcBef>
              <a:spcAft>
                <a:spcPts val="300"/>
              </a:spcAft>
            </a:pPr>
            <a:r>
              <a:rPr sz="1700" b="0" i="0">
                <a:solidFill>
                  <a:srgbClr val="252525"/>
                </a:solidFill>
                <a:latin typeface="Calibri"/>
              </a:rPr>
              <a:t>▪  Pérdida de información y de trazabilidad.</a:t>
            </a:r>
          </a:p>
          <a:p>
            <a:pPr algn="l">
              <a:lnSpc>
                <a:spcPct val="95000"/>
              </a:lnSpc>
              <a:spcBef>
                <a:spcPts val="0"/>
              </a:spcBef>
              <a:spcAft>
                <a:spcPts val="300"/>
              </a:spcAft>
            </a:pPr>
            <a:r>
              <a:rPr sz="1700" b="0" i="0">
                <a:solidFill>
                  <a:srgbClr val="252525"/>
                </a:solidFill>
                <a:latin typeface="Calibri"/>
              </a:rPr>
              <a:t>▪  Reprocesamiento de datos y errores por digitación.</a:t>
            </a:r>
          </a:p>
          <a:p>
            <a:pPr algn="l">
              <a:lnSpc>
                <a:spcPct val="95000"/>
              </a:lnSpc>
              <a:spcBef>
                <a:spcPts val="0"/>
              </a:spcBef>
              <a:spcAft>
                <a:spcPts val="300"/>
              </a:spcAft>
            </a:pPr>
            <a:r>
              <a:rPr sz="1700" b="0" i="0">
                <a:solidFill>
                  <a:srgbClr val="252525"/>
                </a:solidFill>
                <a:latin typeface="Calibri"/>
              </a:rPr>
              <a:t>▪  Tiempos de respuesta largos para el estudiante.</a:t>
            </a:r>
          </a:p>
          <a:p>
            <a:pPr algn="l">
              <a:lnSpc>
                <a:spcPct val="95000"/>
              </a:lnSpc>
              <a:spcBef>
                <a:spcPts val="0"/>
              </a:spcBef>
              <a:spcAft>
                <a:spcPts val="300"/>
              </a:spcAft>
            </a:pPr>
            <a:r>
              <a:rPr sz="1700" b="0" i="0">
                <a:solidFill>
                  <a:srgbClr val="252525"/>
                </a:solidFill>
                <a:latin typeface="Calibri"/>
              </a:rPr>
              <a:t>▪  Dificultad para obtener indicadores de gestión.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42D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146304"/>
            <a:ext cx="12191695" cy="3200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66928" y="384048"/>
            <a:ext cx="11057839" cy="566928"/>
          </a:xfrm>
          <a:prstGeom prst="rect">
            <a:avLst/>
          </a:prstGeom>
          <a:noFill/>
        </p:spPr>
        <p:txBody>
          <a:bodyPr wrap="square" anchor="t" lIns="0" rIns="0" tIns="0" bIns="0">
            <a:spAutoFit/>
          </a:bodyPr>
          <a:lstStyle/>
          <a:p>
            <a:pPr algn="l">
              <a:lnSpc>
                <a:spcPct val="90000"/>
              </a:lnSpc>
              <a:spcBef>
                <a:spcPts val="0"/>
              </a:spcBef>
              <a:spcAft>
                <a:spcPts val="0"/>
              </a:spcAft>
            </a:pPr>
            <a:r>
              <a:rPr sz="2700" b="1" i="0">
                <a:solidFill>
                  <a:srgbClr val="142D5A"/>
                </a:solidFill>
                <a:latin typeface="Calibri"/>
              </a:rPr>
              <a:t>Objetivos</a:t>
            </a:r>
          </a:p>
        </p:txBody>
      </p:sp>
      <p:sp>
        <p:nvSpPr>
          <p:cNvPr id="5" name="Rectangle 4"/>
          <p:cNvSpPr/>
          <p:nvPr/>
        </p:nvSpPr>
        <p:spPr>
          <a:xfrm>
            <a:off x="566928" y="1115568"/>
            <a:ext cx="11057839" cy="20116"/>
          </a:xfrm>
          <a:prstGeom prst="rect">
            <a:avLst/>
          </a:prstGeom>
          <a:solidFill>
            <a:srgbClr val="C6D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6382512"/>
            <a:ext cx="10600639" cy="274320"/>
          </a:xfrm>
          <a:prstGeom prst="rect">
            <a:avLst/>
          </a:prstGeom>
          <a:noFill/>
        </p:spPr>
        <p:txBody>
          <a:bodyPr wrap="square" anchor="t" lIns="0" rIns="0" tIns="0" bIns="0">
            <a:spAutoFit/>
          </a:bodyPr>
          <a:lstStyle/>
          <a:p>
            <a:pPr algn="l">
              <a:lnSpc>
                <a:spcPct val="95000"/>
              </a:lnSpc>
              <a:spcBef>
                <a:spcPts val="0"/>
              </a:spcBef>
              <a:spcAft>
                <a:spcPts val="0"/>
              </a:spcAft>
            </a:pPr>
            <a:r>
              <a:rPr sz="850" b="0" i="0">
                <a:solidFill>
                  <a:srgbClr val="505A6B"/>
                </a:solidFill>
                <a:latin typeface="Calibri"/>
              </a:rPr>
              <a:t>UNIVERSIDAD PRIVADA DOMINGO SAVIO  ·  Sistema de Tutorias y Modalidades de Grado  ·  Grupo 7</a:t>
            </a:r>
          </a:p>
        </p:txBody>
      </p:sp>
      <p:sp>
        <p:nvSpPr>
          <p:cNvPr id="7" name="TextBox 6"/>
          <p:cNvSpPr txBox="1"/>
          <p:nvPr/>
        </p:nvSpPr>
        <p:spPr>
          <a:xfrm>
            <a:off x="11121847" y="6382512"/>
            <a:ext cx="502920" cy="274320"/>
          </a:xfrm>
          <a:prstGeom prst="rect">
            <a:avLst/>
          </a:prstGeom>
          <a:noFill/>
        </p:spPr>
        <p:txBody>
          <a:bodyPr wrap="square" anchor="t" lIns="0" rIns="0" tIns="0" bIns="0">
            <a:spAutoFit/>
          </a:bodyPr>
          <a:lstStyle/>
          <a:p>
            <a:pPr algn="r">
              <a:lnSpc>
                <a:spcPct val="95000"/>
              </a:lnSpc>
              <a:spcBef>
                <a:spcPts val="0"/>
              </a:spcBef>
              <a:spcAft>
                <a:spcPts val="0"/>
              </a:spcAft>
            </a:pPr>
            <a:r>
              <a:rPr sz="950" b="1" i="0">
                <a:solidFill>
                  <a:srgbClr val="142D5A"/>
                </a:solidFill>
                <a:latin typeface="Calibri"/>
              </a:rPr>
              <a:t>3 / 15</a:t>
            </a:r>
          </a:p>
        </p:txBody>
      </p:sp>
      <p:sp>
        <p:nvSpPr>
          <p:cNvPr id="8" name="Rectangle 7"/>
          <p:cNvSpPr/>
          <p:nvPr/>
        </p:nvSpPr>
        <p:spPr>
          <a:xfrm>
            <a:off x="566928" y="1481328"/>
            <a:ext cx="5323179" cy="25603"/>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66928" y="1545336"/>
            <a:ext cx="5323179" cy="237744"/>
          </a:xfrm>
          <a:prstGeom prst="rect">
            <a:avLst/>
          </a:prstGeom>
          <a:noFill/>
        </p:spPr>
        <p:txBody>
          <a:bodyPr wrap="square" anchor="t" lIns="0" rIns="0" tIns="0" bIns="0">
            <a:spAutoFit/>
          </a:bodyPr>
          <a:lstStyle/>
          <a:p>
            <a:pPr algn="l">
              <a:lnSpc>
                <a:spcPct val="95000"/>
              </a:lnSpc>
              <a:spcBef>
                <a:spcPts val="0"/>
              </a:spcBef>
              <a:spcAft>
                <a:spcPts val="0"/>
              </a:spcAft>
            </a:pPr>
            <a:r>
              <a:rPr sz="1150" b="1" i="0">
                <a:solidFill>
                  <a:srgbClr val="142D5A"/>
                </a:solidFill>
                <a:latin typeface="Calibri"/>
              </a:rPr>
              <a:t>OBJETIVO GENERAL</a:t>
            </a:r>
          </a:p>
        </p:txBody>
      </p:sp>
      <p:sp>
        <p:nvSpPr>
          <p:cNvPr id="10" name="TextBox 9"/>
          <p:cNvSpPr txBox="1"/>
          <p:nvPr/>
        </p:nvSpPr>
        <p:spPr>
          <a:xfrm>
            <a:off x="566928" y="1810512"/>
            <a:ext cx="5323179" cy="1106271"/>
          </a:xfrm>
          <a:prstGeom prst="rect">
            <a:avLst/>
          </a:prstGeom>
          <a:noFill/>
        </p:spPr>
        <p:txBody>
          <a:bodyPr wrap="square" anchor="t" lIns="0" rIns="0" tIns="0" bIns="0">
            <a:spAutoFit/>
          </a:bodyPr>
          <a:lstStyle/>
          <a:p>
            <a:pPr algn="just">
              <a:lnSpc>
                <a:spcPct val="105000"/>
              </a:lnSpc>
              <a:spcBef>
                <a:spcPts val="0"/>
              </a:spcBef>
              <a:spcAft>
                <a:spcPts val="0"/>
              </a:spcAft>
            </a:pPr>
            <a:r>
              <a:rPr sz="1700" b="0" i="0">
                <a:solidFill>
                  <a:srgbClr val="282828"/>
                </a:solidFill>
                <a:latin typeface="Calibri"/>
              </a:rPr>
              <a:t>Desarrollar un sistema web que gestione de extremo a extremo los procesos de tutorías y modalidades de grado de una institución de educación superior.</a:t>
            </a:r>
          </a:p>
        </p:txBody>
      </p:sp>
      <p:sp>
        <p:nvSpPr>
          <p:cNvPr id="11" name="Rectangle 10"/>
          <p:cNvSpPr/>
          <p:nvPr/>
        </p:nvSpPr>
        <p:spPr>
          <a:xfrm>
            <a:off x="6301587" y="1481328"/>
            <a:ext cx="5323179" cy="25603"/>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301587" y="1545336"/>
            <a:ext cx="5323179" cy="237744"/>
          </a:xfrm>
          <a:prstGeom prst="rect">
            <a:avLst/>
          </a:prstGeom>
          <a:noFill/>
        </p:spPr>
        <p:txBody>
          <a:bodyPr wrap="square" anchor="t" lIns="0" rIns="0" tIns="0" bIns="0">
            <a:spAutoFit/>
          </a:bodyPr>
          <a:lstStyle/>
          <a:p>
            <a:pPr algn="l">
              <a:lnSpc>
                <a:spcPct val="95000"/>
              </a:lnSpc>
              <a:spcBef>
                <a:spcPts val="0"/>
              </a:spcBef>
              <a:spcAft>
                <a:spcPts val="0"/>
              </a:spcAft>
            </a:pPr>
            <a:r>
              <a:rPr sz="1150" b="1" i="0">
                <a:solidFill>
                  <a:srgbClr val="142D5A"/>
                </a:solidFill>
                <a:latin typeface="Calibri"/>
              </a:rPr>
              <a:t>OBJETIVOS ESPECÍFICOS</a:t>
            </a:r>
          </a:p>
        </p:txBody>
      </p:sp>
      <p:sp>
        <p:nvSpPr>
          <p:cNvPr id="13" name="TextBox 12"/>
          <p:cNvSpPr txBox="1"/>
          <p:nvPr/>
        </p:nvSpPr>
        <p:spPr>
          <a:xfrm>
            <a:off x="6301587" y="1810512"/>
            <a:ext cx="5323179" cy="3277057"/>
          </a:xfrm>
          <a:prstGeom prst="rect">
            <a:avLst/>
          </a:prstGeom>
          <a:noFill/>
        </p:spPr>
        <p:txBody>
          <a:bodyPr wrap="square" anchor="t" lIns="0" rIns="0" tIns="0" bIns="0">
            <a:spAutoFit/>
          </a:bodyPr>
          <a:lstStyle/>
          <a:p>
            <a:pPr algn="l">
              <a:lnSpc>
                <a:spcPct val="95000"/>
              </a:lnSpc>
              <a:spcBef>
                <a:spcPts val="0"/>
              </a:spcBef>
              <a:spcAft>
                <a:spcPts val="300"/>
              </a:spcAft>
            </a:pPr>
            <a:r>
              <a:rPr sz="1700" b="0" i="0">
                <a:solidFill>
                  <a:srgbClr val="252525"/>
                </a:solidFill>
                <a:latin typeface="Calibri"/>
              </a:rPr>
              <a:t>1.  Automatizar el ciclo de vida de las tutorías.</a:t>
            </a:r>
          </a:p>
          <a:p>
            <a:pPr algn="l">
              <a:lnSpc>
                <a:spcPct val="95000"/>
              </a:lnSpc>
              <a:spcBef>
                <a:spcPts val="0"/>
              </a:spcBef>
              <a:spcAft>
                <a:spcPts val="300"/>
              </a:spcAft>
            </a:pPr>
            <a:r>
              <a:rPr sz="1700" b="0" i="0">
                <a:solidFill>
                  <a:srgbClr val="252525"/>
                </a:solidFill>
                <a:latin typeface="Calibri"/>
              </a:rPr>
              <a:t>2.  Automatizar el proceso de modalidades de grado.</a:t>
            </a:r>
          </a:p>
          <a:p>
            <a:pPr algn="l">
              <a:lnSpc>
                <a:spcPct val="95000"/>
              </a:lnSpc>
              <a:spcBef>
                <a:spcPts val="0"/>
              </a:spcBef>
              <a:spcAft>
                <a:spcPts val="300"/>
              </a:spcAft>
            </a:pPr>
            <a:r>
              <a:rPr sz="1700" b="0" i="0">
                <a:solidFill>
                  <a:srgbClr val="252525"/>
                </a:solidFill>
                <a:latin typeface="Calibri"/>
              </a:rPr>
              <a:t>3.  Implementar seguridad con cinco roles y permisos diferenciados.</a:t>
            </a:r>
          </a:p>
          <a:p>
            <a:pPr algn="l">
              <a:lnSpc>
                <a:spcPct val="95000"/>
              </a:lnSpc>
              <a:spcBef>
                <a:spcPts val="0"/>
              </a:spcBef>
              <a:spcAft>
                <a:spcPts val="300"/>
              </a:spcAft>
            </a:pPr>
            <a:r>
              <a:rPr sz="1700" b="0" i="0">
                <a:solidFill>
                  <a:srgbClr val="252525"/>
                </a:solidFill>
                <a:latin typeface="Calibri"/>
              </a:rPr>
              <a:t>4.  Garantizar la integridad de la información mediante restricciones en la base de datos.</a:t>
            </a:r>
          </a:p>
          <a:p>
            <a:pPr algn="l">
              <a:lnSpc>
                <a:spcPct val="95000"/>
              </a:lnSpc>
              <a:spcBef>
                <a:spcPts val="0"/>
              </a:spcBef>
              <a:spcAft>
                <a:spcPts val="300"/>
              </a:spcAft>
            </a:pPr>
            <a:r>
              <a:rPr sz="1700" b="0" i="0">
                <a:solidFill>
                  <a:srgbClr val="252525"/>
                </a:solidFill>
                <a:latin typeface="Calibri"/>
              </a:rPr>
              <a:t>5.  Entregar un sistema desplegable de forma reproducible.</a:t>
            </a:r>
          </a:p>
          <a:p>
            <a:pPr algn="l">
              <a:lnSpc>
                <a:spcPct val="95000"/>
              </a:lnSpc>
              <a:spcBef>
                <a:spcPts val="0"/>
              </a:spcBef>
              <a:spcAft>
                <a:spcPts val="300"/>
              </a:spcAft>
            </a:pPr>
            <a:r>
              <a:rPr sz="1700" b="0" i="0">
                <a:solidFill>
                  <a:srgbClr val="252525"/>
                </a:solidFill>
                <a:latin typeface="Calibri"/>
              </a:rPr>
              <a:t>6.  Documentar el ciclo de vida completo del software.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42D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146304"/>
            <a:ext cx="12191695" cy="3200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66928" y="384048"/>
            <a:ext cx="11057839" cy="566928"/>
          </a:xfrm>
          <a:prstGeom prst="rect">
            <a:avLst/>
          </a:prstGeom>
          <a:noFill/>
        </p:spPr>
        <p:txBody>
          <a:bodyPr wrap="square" anchor="t" lIns="0" rIns="0" tIns="0" bIns="0">
            <a:spAutoFit/>
          </a:bodyPr>
          <a:lstStyle/>
          <a:p>
            <a:pPr algn="l">
              <a:lnSpc>
                <a:spcPct val="90000"/>
              </a:lnSpc>
              <a:spcBef>
                <a:spcPts val="0"/>
              </a:spcBef>
              <a:spcAft>
                <a:spcPts val="0"/>
              </a:spcAft>
            </a:pPr>
            <a:r>
              <a:rPr sz="2700" b="1" i="0">
                <a:solidFill>
                  <a:srgbClr val="142D5A"/>
                </a:solidFill>
                <a:latin typeface="Calibri"/>
              </a:rPr>
              <a:t>Alcance y actores</a:t>
            </a:r>
          </a:p>
        </p:txBody>
      </p:sp>
      <p:sp>
        <p:nvSpPr>
          <p:cNvPr id="5" name="Rectangle 4"/>
          <p:cNvSpPr/>
          <p:nvPr/>
        </p:nvSpPr>
        <p:spPr>
          <a:xfrm>
            <a:off x="566928" y="1115568"/>
            <a:ext cx="11057839" cy="20116"/>
          </a:xfrm>
          <a:prstGeom prst="rect">
            <a:avLst/>
          </a:prstGeom>
          <a:solidFill>
            <a:srgbClr val="C6D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6382512"/>
            <a:ext cx="10600639" cy="274320"/>
          </a:xfrm>
          <a:prstGeom prst="rect">
            <a:avLst/>
          </a:prstGeom>
          <a:noFill/>
        </p:spPr>
        <p:txBody>
          <a:bodyPr wrap="square" anchor="t" lIns="0" rIns="0" tIns="0" bIns="0">
            <a:spAutoFit/>
          </a:bodyPr>
          <a:lstStyle/>
          <a:p>
            <a:pPr algn="l">
              <a:lnSpc>
                <a:spcPct val="95000"/>
              </a:lnSpc>
              <a:spcBef>
                <a:spcPts val="0"/>
              </a:spcBef>
              <a:spcAft>
                <a:spcPts val="0"/>
              </a:spcAft>
            </a:pPr>
            <a:r>
              <a:rPr sz="850" b="0" i="0">
                <a:solidFill>
                  <a:srgbClr val="505A6B"/>
                </a:solidFill>
                <a:latin typeface="Calibri"/>
              </a:rPr>
              <a:t>UNIVERSIDAD PRIVADA DOMINGO SAVIO  ·  Sistema de Tutorias y Modalidades de Grado  ·  Grupo 7</a:t>
            </a:r>
          </a:p>
        </p:txBody>
      </p:sp>
      <p:sp>
        <p:nvSpPr>
          <p:cNvPr id="7" name="TextBox 6"/>
          <p:cNvSpPr txBox="1"/>
          <p:nvPr/>
        </p:nvSpPr>
        <p:spPr>
          <a:xfrm>
            <a:off x="11121847" y="6382512"/>
            <a:ext cx="502920" cy="274320"/>
          </a:xfrm>
          <a:prstGeom prst="rect">
            <a:avLst/>
          </a:prstGeom>
          <a:noFill/>
        </p:spPr>
        <p:txBody>
          <a:bodyPr wrap="square" anchor="t" lIns="0" rIns="0" tIns="0" bIns="0">
            <a:spAutoFit/>
          </a:bodyPr>
          <a:lstStyle/>
          <a:p>
            <a:pPr algn="r">
              <a:lnSpc>
                <a:spcPct val="95000"/>
              </a:lnSpc>
              <a:spcBef>
                <a:spcPts val="0"/>
              </a:spcBef>
              <a:spcAft>
                <a:spcPts val="0"/>
              </a:spcAft>
            </a:pPr>
            <a:r>
              <a:rPr sz="950" b="1" i="0">
                <a:solidFill>
                  <a:srgbClr val="142D5A"/>
                </a:solidFill>
                <a:latin typeface="Calibri"/>
              </a:rPr>
              <a:t>4 / 15</a:t>
            </a:r>
          </a:p>
        </p:txBody>
      </p:sp>
      <p:sp>
        <p:nvSpPr>
          <p:cNvPr id="8" name="Rectangle 7"/>
          <p:cNvSpPr/>
          <p:nvPr/>
        </p:nvSpPr>
        <p:spPr>
          <a:xfrm>
            <a:off x="566928" y="1481328"/>
            <a:ext cx="11057839" cy="25603"/>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66928" y="1545336"/>
            <a:ext cx="11057839" cy="237744"/>
          </a:xfrm>
          <a:prstGeom prst="rect">
            <a:avLst/>
          </a:prstGeom>
          <a:noFill/>
        </p:spPr>
        <p:txBody>
          <a:bodyPr wrap="square" anchor="t" lIns="0" rIns="0" tIns="0" bIns="0">
            <a:spAutoFit/>
          </a:bodyPr>
          <a:lstStyle/>
          <a:p>
            <a:pPr algn="l">
              <a:lnSpc>
                <a:spcPct val="95000"/>
              </a:lnSpc>
              <a:spcBef>
                <a:spcPts val="0"/>
              </a:spcBef>
              <a:spcAft>
                <a:spcPts val="0"/>
              </a:spcAft>
            </a:pPr>
            <a:r>
              <a:rPr sz="1150" b="1" i="0">
                <a:solidFill>
                  <a:srgbClr val="142D5A"/>
                </a:solidFill>
                <a:latin typeface="Calibri"/>
              </a:rPr>
              <a:t>MÓDULOS DEL SISTEMA</a:t>
            </a:r>
          </a:p>
        </p:txBody>
      </p:sp>
      <p:graphicFrame>
        <p:nvGraphicFramePr>
          <p:cNvPr id="10" name="Table 9"/>
          <p:cNvGraphicFramePr>
            <a:graphicFrameLocks noGrp="1"/>
          </p:cNvGraphicFramePr>
          <p:nvPr/>
        </p:nvGraphicFramePr>
        <p:xfrm>
          <a:off x="566928" y="1810512"/>
          <a:ext cx="11057838" cy="1748790"/>
        </p:xfrm>
        <a:graphic>
          <a:graphicData uri="http://schemas.openxmlformats.org/drawingml/2006/table">
            <a:tbl>
              <a:tblPr firstRow="1">
                <a:tableStyleId>{5C22544A-7EE6-4342-B048-85BDC9FD1C3A}</a:tableStyleId>
              </a:tblPr>
              <a:tblGrid>
                <a:gridCol w="3077955"/>
                <a:gridCol w="7979883"/>
              </a:tblGrid>
              <a:tr h="349758">
                <a:tc>
                  <a:txBody>
                    <a:bodyPr/>
                    <a:lstStyle/>
                    <a:p>
                      <a:pPr algn="ctr">
                        <a:lnSpc>
                          <a:spcPct val="92000"/>
                        </a:lnSpc>
                      </a:pPr>
                      <a:r>
                        <a:rPr sz="1400" b="1">
                          <a:solidFill>
                            <a:srgbClr val="FFFFFF"/>
                          </a:solidFill>
                          <a:latin typeface="Calibri"/>
                        </a:rPr>
                        <a:t>Módulo</a:t>
                      </a:r>
                    </a:p>
                  </a:txBody>
                  <a:tcPr marL="64008" marR="64008" marT="18288" marB="18288" anchor="ctr">
                    <a:solidFill>
                      <a:srgbClr val="142D5A"/>
                    </a:solidFill>
                  </a:tcPr>
                </a:tc>
                <a:tc>
                  <a:txBody>
                    <a:bodyPr/>
                    <a:lstStyle/>
                    <a:p>
                      <a:pPr algn="ctr">
                        <a:lnSpc>
                          <a:spcPct val="92000"/>
                        </a:lnSpc>
                      </a:pPr>
                      <a:r>
                        <a:rPr sz="1400" b="1">
                          <a:solidFill>
                            <a:srgbClr val="FFFFFF"/>
                          </a:solidFill>
                          <a:latin typeface="Calibri"/>
                        </a:rPr>
                        <a:t>Contenido</a:t>
                      </a:r>
                    </a:p>
                  </a:txBody>
                  <a:tcPr marL="64008" marR="64008" marT="18288" marB="18288" anchor="ctr">
                    <a:solidFill>
                      <a:srgbClr val="142D5A"/>
                    </a:solidFill>
                  </a:tcPr>
                </a:tc>
              </a:tr>
              <a:tr h="349758">
                <a:tc>
                  <a:txBody>
                    <a:bodyPr/>
                    <a:lstStyle/>
                    <a:p>
                      <a:pPr algn="ctr">
                        <a:lnSpc>
                          <a:spcPct val="92000"/>
                        </a:lnSpc>
                      </a:pPr>
                      <a:r>
                        <a:rPr sz="1400" b="1">
                          <a:solidFill>
                            <a:srgbClr val="142D5A"/>
                          </a:solidFill>
                          <a:latin typeface="Calibri"/>
                        </a:rPr>
                        <a:t>Identificación y acceso</a:t>
                      </a:r>
                    </a:p>
                  </a:txBody>
                  <a:tcPr marL="64008" marR="64008" marT="18288" marB="18288" anchor="ctr">
                    <a:solidFill>
                      <a:srgbClr val="FFFFFF"/>
                    </a:solidFill>
                  </a:tcPr>
                </a:tc>
                <a:tc>
                  <a:txBody>
                    <a:bodyPr/>
                    <a:lstStyle/>
                    <a:p>
                      <a:pPr algn="l">
                        <a:lnSpc>
                          <a:spcPct val="92000"/>
                        </a:lnSpc>
                      </a:pPr>
                      <a:r>
                        <a:rPr sz="1400" b="0">
                          <a:solidFill>
                            <a:srgbClr val="202020"/>
                          </a:solidFill>
                          <a:latin typeface="Calibri"/>
                        </a:rPr>
                        <a:t>Autenticación, sesión, notificaciones, perfil.</a:t>
                      </a:r>
                    </a:p>
                  </a:txBody>
                  <a:tcPr marL="64008" marR="64008" marT="18288" marB="18288" anchor="ctr">
                    <a:solidFill>
                      <a:srgbClr val="FFFFFF"/>
                    </a:solidFill>
                  </a:tcPr>
                </a:tc>
              </a:tr>
              <a:tr h="349758">
                <a:tc>
                  <a:txBody>
                    <a:bodyPr/>
                    <a:lstStyle/>
                    <a:p>
                      <a:pPr algn="ctr">
                        <a:lnSpc>
                          <a:spcPct val="92000"/>
                        </a:lnSpc>
                      </a:pPr>
                      <a:r>
                        <a:rPr sz="1400" b="1">
                          <a:solidFill>
                            <a:srgbClr val="142D5A"/>
                          </a:solidFill>
                          <a:latin typeface="Calibri"/>
                        </a:rPr>
                        <a:t>Núcleo institucional</a:t>
                      </a:r>
                    </a:p>
                  </a:txBody>
                  <a:tcPr marL="64008" marR="64008" marT="18288" marB="18288" anchor="ctr">
                    <a:solidFill>
                      <a:srgbClr val="F2F5F9"/>
                    </a:solidFill>
                  </a:tcPr>
                </a:tc>
                <a:tc>
                  <a:txBody>
                    <a:bodyPr/>
                    <a:lstStyle/>
                    <a:p>
                      <a:pPr algn="l">
                        <a:lnSpc>
                          <a:spcPct val="92000"/>
                        </a:lnSpc>
                      </a:pPr>
                      <a:r>
                        <a:rPr sz="1400" b="0">
                          <a:solidFill>
                            <a:srgbClr val="202020"/>
                          </a:solidFill>
                          <a:latin typeface="Calibri"/>
                        </a:rPr>
                        <a:t>Usuarios, roles, carreras, materias, turnos.</a:t>
                      </a:r>
                    </a:p>
                  </a:txBody>
                  <a:tcPr marL="64008" marR="64008" marT="18288" marB="18288" anchor="ctr">
                    <a:solidFill>
                      <a:srgbClr val="F2F5F9"/>
                    </a:solidFill>
                  </a:tcPr>
                </a:tc>
              </a:tr>
              <a:tr h="349758">
                <a:tc>
                  <a:txBody>
                    <a:bodyPr/>
                    <a:lstStyle/>
                    <a:p>
                      <a:pPr algn="ctr">
                        <a:lnSpc>
                          <a:spcPct val="92000"/>
                        </a:lnSpc>
                      </a:pPr>
                      <a:r>
                        <a:rPr sz="1400" b="1">
                          <a:solidFill>
                            <a:srgbClr val="142D5A"/>
                          </a:solidFill>
                          <a:latin typeface="Calibri"/>
                        </a:rPr>
                        <a:t>Tutorías</a:t>
                      </a:r>
                    </a:p>
                  </a:txBody>
                  <a:tcPr marL="64008" marR="64008" marT="18288" marB="18288" anchor="ctr">
                    <a:solidFill>
                      <a:srgbClr val="FFFFFF"/>
                    </a:solidFill>
                  </a:tcPr>
                </a:tc>
                <a:tc>
                  <a:txBody>
                    <a:bodyPr/>
                    <a:lstStyle/>
                    <a:p>
                      <a:pPr algn="l">
                        <a:lnSpc>
                          <a:spcPct val="92000"/>
                        </a:lnSpc>
                      </a:pPr>
                      <a:r>
                        <a:rPr sz="1400" b="0">
                          <a:solidFill>
                            <a:srgbClr val="202020"/>
                          </a:solidFill>
                          <a:latin typeface="Calibri"/>
                        </a:rPr>
                        <a:t>Ofertas, disponibilidad, solicitudes, estados, evaluaciones.</a:t>
                      </a:r>
                    </a:p>
                  </a:txBody>
                  <a:tcPr marL="64008" marR="64008" marT="18288" marB="18288" anchor="ctr">
                    <a:solidFill>
                      <a:srgbClr val="FFFFFF"/>
                    </a:solidFill>
                  </a:tcPr>
                </a:tc>
              </a:tr>
              <a:tr h="349758">
                <a:tc>
                  <a:txBody>
                    <a:bodyPr/>
                    <a:lstStyle/>
                    <a:p>
                      <a:pPr algn="ctr">
                        <a:lnSpc>
                          <a:spcPct val="92000"/>
                        </a:lnSpc>
                      </a:pPr>
                      <a:r>
                        <a:rPr sz="1400" b="1">
                          <a:solidFill>
                            <a:srgbClr val="142D5A"/>
                          </a:solidFill>
                          <a:latin typeface="Calibri"/>
                        </a:rPr>
                        <a:t>Modalidades de Grado</a:t>
                      </a:r>
                    </a:p>
                  </a:txBody>
                  <a:tcPr marL="64008" marR="64008" marT="18288" marB="18288" anchor="ctr">
                    <a:solidFill>
                      <a:srgbClr val="F2F5F9"/>
                    </a:solidFill>
                  </a:tcPr>
                </a:tc>
                <a:tc>
                  <a:txBody>
                    <a:bodyPr/>
                    <a:lstStyle/>
                    <a:p>
                      <a:pPr algn="l">
                        <a:lnSpc>
                          <a:spcPct val="92000"/>
                        </a:lnSpc>
                      </a:pPr>
                      <a:r>
                        <a:rPr sz="1400" b="0">
                          <a:solidFill>
                            <a:srgbClr val="202020"/>
                          </a:solidFill>
                          <a:latin typeface="Calibri"/>
                        </a:rPr>
                        <a:t>Modalidades, declaraciones, avales, expedientes, tribunal, actas, documentos.</a:t>
                      </a:r>
                    </a:p>
                  </a:txBody>
                  <a:tcPr marL="64008" marR="64008" marT="18288" marB="18288" anchor="ctr">
                    <a:solidFill>
                      <a:srgbClr val="F2F5F9"/>
                    </a:solidFill>
                  </a:tcPr>
                </a:tc>
              </a:tr>
            </a:tbl>
          </a:graphicData>
        </a:graphic>
      </p:graphicFrame>
      <p:sp>
        <p:nvSpPr>
          <p:cNvPr id="11" name="Rectangle 10"/>
          <p:cNvSpPr/>
          <p:nvPr/>
        </p:nvSpPr>
        <p:spPr>
          <a:xfrm>
            <a:off x="566928" y="3705606"/>
            <a:ext cx="11057839" cy="25603"/>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66928" y="3769614"/>
            <a:ext cx="11057839" cy="237744"/>
          </a:xfrm>
          <a:prstGeom prst="rect">
            <a:avLst/>
          </a:prstGeom>
          <a:noFill/>
        </p:spPr>
        <p:txBody>
          <a:bodyPr wrap="square" anchor="t" lIns="0" rIns="0" tIns="0" bIns="0">
            <a:spAutoFit/>
          </a:bodyPr>
          <a:lstStyle/>
          <a:p>
            <a:pPr algn="l">
              <a:lnSpc>
                <a:spcPct val="95000"/>
              </a:lnSpc>
              <a:spcBef>
                <a:spcPts val="0"/>
              </a:spcBef>
              <a:spcAft>
                <a:spcPts val="0"/>
              </a:spcAft>
            </a:pPr>
            <a:r>
              <a:rPr sz="1150" b="1" i="0">
                <a:solidFill>
                  <a:srgbClr val="142D5A"/>
                </a:solidFill>
                <a:latin typeface="Calibri"/>
              </a:rPr>
              <a:t>LOS CINCO ACTORES DEL SISTEMA</a:t>
            </a:r>
          </a:p>
        </p:txBody>
      </p:sp>
      <p:graphicFrame>
        <p:nvGraphicFramePr>
          <p:cNvPr id="13" name="Table 12"/>
          <p:cNvGraphicFramePr>
            <a:graphicFrameLocks noGrp="1"/>
          </p:cNvGraphicFramePr>
          <p:nvPr/>
        </p:nvGraphicFramePr>
        <p:xfrm>
          <a:off x="566928" y="4034790"/>
          <a:ext cx="11057838" cy="1841370"/>
        </p:xfrm>
        <a:graphic>
          <a:graphicData uri="http://schemas.openxmlformats.org/drawingml/2006/table">
            <a:tbl>
              <a:tblPr firstRow="1">
                <a:tableStyleId>{5C22544A-7EE6-4342-B048-85BDC9FD1C3A}</a:tableStyleId>
              </a:tblPr>
              <a:tblGrid>
                <a:gridCol w="2261830"/>
                <a:gridCol w="8796008"/>
              </a:tblGrid>
              <a:tr h="306895">
                <a:tc>
                  <a:txBody>
                    <a:bodyPr/>
                    <a:lstStyle/>
                    <a:p>
                      <a:pPr algn="ctr">
                        <a:lnSpc>
                          <a:spcPct val="92000"/>
                        </a:lnSpc>
                      </a:pPr>
                      <a:r>
                        <a:rPr sz="1150" b="1">
                          <a:solidFill>
                            <a:srgbClr val="FFFFFF"/>
                          </a:solidFill>
                          <a:latin typeface="Calibri"/>
                        </a:rPr>
                        <a:t>Actor</a:t>
                      </a:r>
                    </a:p>
                  </a:txBody>
                  <a:tcPr marL="64008" marR="64008" marT="18288" marB="18288" anchor="ctr">
                    <a:solidFill>
                      <a:srgbClr val="142D5A"/>
                    </a:solidFill>
                  </a:tcPr>
                </a:tc>
                <a:tc>
                  <a:txBody>
                    <a:bodyPr/>
                    <a:lstStyle/>
                    <a:p>
                      <a:pPr algn="ctr">
                        <a:lnSpc>
                          <a:spcPct val="92000"/>
                        </a:lnSpc>
                      </a:pPr>
                      <a:r>
                        <a:rPr sz="1150" b="1">
                          <a:solidFill>
                            <a:srgbClr val="FFFFFF"/>
                          </a:solidFill>
                          <a:latin typeface="Calibri"/>
                        </a:rPr>
                        <a:t>Responsabilidad principal</a:t>
                      </a:r>
                    </a:p>
                  </a:txBody>
                  <a:tcPr marL="64008" marR="64008" marT="18288" marB="18288" anchor="ctr">
                    <a:solidFill>
                      <a:srgbClr val="142D5A"/>
                    </a:solidFill>
                  </a:tcPr>
                </a:tc>
              </a:tr>
              <a:tr h="306895">
                <a:tc>
                  <a:txBody>
                    <a:bodyPr/>
                    <a:lstStyle/>
                    <a:p>
                      <a:pPr algn="ctr">
                        <a:lnSpc>
                          <a:spcPct val="92000"/>
                        </a:lnSpc>
                      </a:pPr>
                      <a:r>
                        <a:rPr sz="1150" b="1">
                          <a:solidFill>
                            <a:srgbClr val="142D5A"/>
                          </a:solidFill>
                          <a:latin typeface="Calibri"/>
                        </a:rPr>
                        <a:t>Administrador</a:t>
                      </a:r>
                    </a:p>
                  </a:txBody>
                  <a:tcPr marL="64008" marR="64008" marT="18288" marB="18288" anchor="ctr">
                    <a:solidFill>
                      <a:srgbClr val="FFFFFF"/>
                    </a:solidFill>
                  </a:tcPr>
                </a:tc>
                <a:tc>
                  <a:txBody>
                    <a:bodyPr/>
                    <a:lstStyle/>
                    <a:p>
                      <a:pPr algn="l">
                        <a:lnSpc>
                          <a:spcPct val="92000"/>
                        </a:lnSpc>
                      </a:pPr>
                      <a:r>
                        <a:rPr sz="1150" b="0">
                          <a:solidFill>
                            <a:srgbClr val="202020"/>
                          </a:solidFill>
                          <a:latin typeface="Calibri"/>
                        </a:rPr>
                        <a:t>Gestión total: usuarios, catálogos, ofertas, estados, dashboard.</a:t>
                      </a:r>
                    </a:p>
                  </a:txBody>
                  <a:tcPr marL="64008" marR="64008" marT="18288" marB="18288" anchor="ctr">
                    <a:solidFill>
                      <a:srgbClr val="FFFFFF"/>
                    </a:solidFill>
                  </a:tcPr>
                </a:tc>
              </a:tr>
              <a:tr h="306895">
                <a:tc>
                  <a:txBody>
                    <a:bodyPr/>
                    <a:lstStyle/>
                    <a:p>
                      <a:pPr algn="ctr">
                        <a:lnSpc>
                          <a:spcPct val="92000"/>
                        </a:lnSpc>
                      </a:pPr>
                      <a:r>
                        <a:rPr sz="1150" b="1">
                          <a:solidFill>
                            <a:srgbClr val="142D5A"/>
                          </a:solidFill>
                          <a:latin typeface="Calibri"/>
                        </a:rPr>
                        <a:t>Tutor</a:t>
                      </a:r>
                    </a:p>
                  </a:txBody>
                  <a:tcPr marL="64008" marR="64008" marT="18288" marB="18288" anchor="ctr">
                    <a:solidFill>
                      <a:srgbClr val="F2F5F9"/>
                    </a:solidFill>
                  </a:tcPr>
                </a:tc>
                <a:tc>
                  <a:txBody>
                    <a:bodyPr/>
                    <a:lstStyle/>
                    <a:p>
                      <a:pPr algn="l">
                        <a:lnSpc>
                          <a:spcPct val="92000"/>
                        </a:lnSpc>
                      </a:pPr>
                      <a:r>
                        <a:rPr sz="1150" b="0">
                          <a:solidFill>
                            <a:srgbClr val="202020"/>
                          </a:solidFill>
                          <a:latin typeface="Calibri"/>
                        </a:rPr>
                        <a:t>Aceptar ofertas, declarar disponibilidad, gestionar sus tutorías.</a:t>
                      </a:r>
                    </a:p>
                  </a:txBody>
                  <a:tcPr marL="64008" marR="64008" marT="18288" marB="18288" anchor="ctr">
                    <a:solidFill>
                      <a:srgbClr val="F2F5F9"/>
                    </a:solidFill>
                  </a:tcPr>
                </a:tc>
              </a:tr>
              <a:tr h="306895">
                <a:tc>
                  <a:txBody>
                    <a:bodyPr/>
                    <a:lstStyle/>
                    <a:p>
                      <a:pPr algn="ctr">
                        <a:lnSpc>
                          <a:spcPct val="92000"/>
                        </a:lnSpc>
                      </a:pPr>
                      <a:r>
                        <a:rPr sz="1150" b="1">
                          <a:solidFill>
                            <a:srgbClr val="142D5A"/>
                          </a:solidFill>
                          <a:latin typeface="Calibri"/>
                        </a:rPr>
                        <a:t>Estudiante</a:t>
                      </a:r>
                    </a:p>
                  </a:txBody>
                  <a:tcPr marL="64008" marR="64008" marT="18288" marB="18288" anchor="ctr">
                    <a:solidFill>
                      <a:srgbClr val="FFFFFF"/>
                    </a:solidFill>
                  </a:tcPr>
                </a:tc>
                <a:tc>
                  <a:txBody>
                    <a:bodyPr/>
                    <a:lstStyle/>
                    <a:p>
                      <a:pPr algn="l">
                        <a:lnSpc>
                          <a:spcPct val="92000"/>
                        </a:lnSpc>
                      </a:pPr>
                      <a:r>
                        <a:rPr sz="1150" b="0">
                          <a:solidFill>
                            <a:srgbClr val="202020"/>
                          </a:solidFill>
                          <a:latin typeface="Calibri"/>
                        </a:rPr>
                        <a:t>Solicitar y evaluar tutorías; declarar modalidad de grado.</a:t>
                      </a:r>
                    </a:p>
                  </a:txBody>
                  <a:tcPr marL="64008" marR="64008" marT="18288" marB="18288" anchor="ctr">
                    <a:solidFill>
                      <a:srgbClr val="FFFFFF"/>
                    </a:solidFill>
                  </a:tcPr>
                </a:tc>
              </a:tr>
              <a:tr h="306895">
                <a:tc>
                  <a:txBody>
                    <a:bodyPr/>
                    <a:lstStyle/>
                    <a:p>
                      <a:pPr algn="ctr">
                        <a:lnSpc>
                          <a:spcPct val="92000"/>
                        </a:lnSpc>
                      </a:pPr>
                      <a:r>
                        <a:rPr sz="1150" b="1">
                          <a:solidFill>
                            <a:srgbClr val="142D5A"/>
                          </a:solidFill>
                          <a:latin typeface="Calibri"/>
                        </a:rPr>
                        <a:t>Coordinador MG</a:t>
                      </a:r>
                    </a:p>
                  </a:txBody>
                  <a:tcPr marL="64008" marR="64008" marT="18288" marB="18288" anchor="ctr">
                    <a:solidFill>
                      <a:srgbClr val="F2F5F9"/>
                    </a:solidFill>
                  </a:tcPr>
                </a:tc>
                <a:tc>
                  <a:txBody>
                    <a:bodyPr/>
                    <a:lstStyle/>
                    <a:p>
                      <a:pPr algn="l">
                        <a:lnSpc>
                          <a:spcPct val="92000"/>
                        </a:lnSpc>
                      </a:pPr>
                      <a:r>
                        <a:rPr sz="1150" b="0">
                          <a:solidFill>
                            <a:srgbClr val="202020"/>
                          </a:solidFill>
                          <a:latin typeface="Calibri"/>
                        </a:rPr>
                        <a:t>Coordinar el proceso: catálogo, revisión, aprobación, parámetros.</a:t>
                      </a:r>
                    </a:p>
                  </a:txBody>
                  <a:tcPr marL="64008" marR="64008" marT="18288" marB="18288" anchor="ctr">
                    <a:solidFill>
                      <a:srgbClr val="F2F5F9"/>
                    </a:solidFill>
                  </a:tcPr>
                </a:tc>
              </a:tr>
              <a:tr h="306895">
                <a:tc>
                  <a:txBody>
                    <a:bodyPr/>
                    <a:lstStyle/>
                    <a:p>
                      <a:pPr algn="ctr">
                        <a:lnSpc>
                          <a:spcPct val="92000"/>
                        </a:lnSpc>
                      </a:pPr>
                      <a:r>
                        <a:rPr sz="1150" b="1">
                          <a:solidFill>
                            <a:srgbClr val="142D5A"/>
                          </a:solidFill>
                          <a:latin typeface="Calibri"/>
                        </a:rPr>
                        <a:t>Auxiliar MG</a:t>
                      </a:r>
                    </a:p>
                  </a:txBody>
                  <a:tcPr marL="64008" marR="64008" marT="18288" marB="18288" anchor="ctr">
                    <a:solidFill>
                      <a:srgbClr val="FFFFFF"/>
                    </a:solidFill>
                  </a:tcPr>
                </a:tc>
                <a:tc>
                  <a:txBody>
                    <a:bodyPr/>
                    <a:lstStyle/>
                    <a:p>
                      <a:pPr algn="l">
                        <a:lnSpc>
                          <a:spcPct val="92000"/>
                        </a:lnSpc>
                      </a:pPr>
                      <a:r>
                        <a:rPr sz="1150" b="0">
                          <a:solidFill>
                            <a:srgbClr val="202020"/>
                          </a:solidFill>
                          <a:latin typeface="Calibri"/>
                        </a:rPr>
                        <a:t>Operación diaria: avales, importaciones, expedientes, tribunal, actas.</a:t>
                      </a:r>
                    </a:p>
                  </a:txBody>
                  <a:tcPr marL="64008" marR="64008" marT="18288" marB="18288" anchor="ctr">
                    <a:solidFill>
                      <a:srgbClr val="FFFFFF"/>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42D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146304"/>
            <a:ext cx="12191695" cy="3200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66928" y="384048"/>
            <a:ext cx="11057839" cy="566928"/>
          </a:xfrm>
          <a:prstGeom prst="rect">
            <a:avLst/>
          </a:prstGeom>
          <a:noFill/>
        </p:spPr>
        <p:txBody>
          <a:bodyPr wrap="square" anchor="t" lIns="0" rIns="0" tIns="0" bIns="0">
            <a:spAutoFit/>
          </a:bodyPr>
          <a:lstStyle/>
          <a:p>
            <a:pPr algn="l">
              <a:lnSpc>
                <a:spcPct val="90000"/>
              </a:lnSpc>
              <a:spcBef>
                <a:spcPts val="0"/>
              </a:spcBef>
              <a:spcAft>
                <a:spcPts val="0"/>
              </a:spcAft>
            </a:pPr>
            <a:r>
              <a:rPr sz="2700" b="1" i="0">
                <a:solidFill>
                  <a:srgbClr val="142D5A"/>
                </a:solidFill>
                <a:latin typeface="Calibri"/>
              </a:rPr>
              <a:t>Diagrama de casos de uso</a:t>
            </a:r>
          </a:p>
        </p:txBody>
      </p:sp>
      <p:sp>
        <p:nvSpPr>
          <p:cNvPr id="5" name="Rectangle 4"/>
          <p:cNvSpPr/>
          <p:nvPr/>
        </p:nvSpPr>
        <p:spPr>
          <a:xfrm>
            <a:off x="566928" y="1115568"/>
            <a:ext cx="11057839" cy="20116"/>
          </a:xfrm>
          <a:prstGeom prst="rect">
            <a:avLst/>
          </a:prstGeom>
          <a:solidFill>
            <a:srgbClr val="C6D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6382512"/>
            <a:ext cx="10600639" cy="274320"/>
          </a:xfrm>
          <a:prstGeom prst="rect">
            <a:avLst/>
          </a:prstGeom>
          <a:noFill/>
        </p:spPr>
        <p:txBody>
          <a:bodyPr wrap="square" anchor="t" lIns="0" rIns="0" tIns="0" bIns="0">
            <a:spAutoFit/>
          </a:bodyPr>
          <a:lstStyle/>
          <a:p>
            <a:pPr algn="l">
              <a:lnSpc>
                <a:spcPct val="95000"/>
              </a:lnSpc>
              <a:spcBef>
                <a:spcPts val="0"/>
              </a:spcBef>
              <a:spcAft>
                <a:spcPts val="0"/>
              </a:spcAft>
            </a:pPr>
            <a:r>
              <a:rPr sz="850" b="0" i="0">
                <a:solidFill>
                  <a:srgbClr val="505A6B"/>
                </a:solidFill>
                <a:latin typeface="Calibri"/>
              </a:rPr>
              <a:t>UNIVERSIDAD PRIVADA DOMINGO SAVIO  ·  Sistema de Tutorias y Modalidades de Grado  ·  Grupo 7</a:t>
            </a:r>
          </a:p>
        </p:txBody>
      </p:sp>
      <p:sp>
        <p:nvSpPr>
          <p:cNvPr id="7" name="TextBox 6"/>
          <p:cNvSpPr txBox="1"/>
          <p:nvPr/>
        </p:nvSpPr>
        <p:spPr>
          <a:xfrm>
            <a:off x="11121847" y="6382512"/>
            <a:ext cx="502920" cy="274320"/>
          </a:xfrm>
          <a:prstGeom prst="rect">
            <a:avLst/>
          </a:prstGeom>
          <a:noFill/>
        </p:spPr>
        <p:txBody>
          <a:bodyPr wrap="square" anchor="t" lIns="0" rIns="0" tIns="0" bIns="0">
            <a:spAutoFit/>
          </a:bodyPr>
          <a:lstStyle/>
          <a:p>
            <a:pPr algn="r">
              <a:lnSpc>
                <a:spcPct val="95000"/>
              </a:lnSpc>
              <a:spcBef>
                <a:spcPts val="0"/>
              </a:spcBef>
              <a:spcAft>
                <a:spcPts val="0"/>
              </a:spcAft>
            </a:pPr>
            <a:r>
              <a:rPr sz="950" b="1" i="0">
                <a:solidFill>
                  <a:srgbClr val="142D5A"/>
                </a:solidFill>
                <a:latin typeface="Calibri"/>
              </a:rPr>
              <a:t>5 / 15</a:t>
            </a:r>
          </a:p>
        </p:txBody>
      </p:sp>
      <p:pic>
        <p:nvPicPr>
          <p:cNvPr id="8" name="Picture 7" descr="Presentacion_Defensa_01.png"/>
          <p:cNvPicPr>
            <a:picLocks noChangeAspect="1"/>
          </p:cNvPicPr>
          <p:nvPr/>
        </p:nvPicPr>
        <p:blipFill>
          <a:blip r:embed="rId2"/>
          <a:stretch>
            <a:fillRect/>
          </a:stretch>
        </p:blipFill>
        <p:spPr>
          <a:xfrm>
            <a:off x="4988062" y="1481328"/>
            <a:ext cx="2215570" cy="4590288"/>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42D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146304"/>
            <a:ext cx="12191695" cy="3200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66928" y="384048"/>
            <a:ext cx="11057839" cy="566928"/>
          </a:xfrm>
          <a:prstGeom prst="rect">
            <a:avLst/>
          </a:prstGeom>
          <a:noFill/>
        </p:spPr>
        <p:txBody>
          <a:bodyPr wrap="square" anchor="t" lIns="0" rIns="0" tIns="0" bIns="0">
            <a:spAutoFit/>
          </a:bodyPr>
          <a:lstStyle/>
          <a:p>
            <a:pPr algn="l">
              <a:lnSpc>
                <a:spcPct val="90000"/>
              </a:lnSpc>
              <a:spcBef>
                <a:spcPts val="0"/>
              </a:spcBef>
              <a:spcAft>
                <a:spcPts val="0"/>
              </a:spcAft>
            </a:pPr>
            <a:r>
              <a:rPr sz="2700" b="1" i="0">
                <a:solidFill>
                  <a:srgbClr val="142D5A"/>
                </a:solidFill>
                <a:latin typeface="Calibri"/>
              </a:rPr>
              <a:t>Requisitos</a:t>
            </a:r>
          </a:p>
        </p:txBody>
      </p:sp>
      <p:sp>
        <p:nvSpPr>
          <p:cNvPr id="5" name="Rectangle 4"/>
          <p:cNvSpPr/>
          <p:nvPr/>
        </p:nvSpPr>
        <p:spPr>
          <a:xfrm>
            <a:off x="566928" y="1115568"/>
            <a:ext cx="11057839" cy="20116"/>
          </a:xfrm>
          <a:prstGeom prst="rect">
            <a:avLst/>
          </a:prstGeom>
          <a:solidFill>
            <a:srgbClr val="C6D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6382512"/>
            <a:ext cx="10600639" cy="274320"/>
          </a:xfrm>
          <a:prstGeom prst="rect">
            <a:avLst/>
          </a:prstGeom>
          <a:noFill/>
        </p:spPr>
        <p:txBody>
          <a:bodyPr wrap="square" anchor="t" lIns="0" rIns="0" tIns="0" bIns="0">
            <a:spAutoFit/>
          </a:bodyPr>
          <a:lstStyle/>
          <a:p>
            <a:pPr algn="l">
              <a:lnSpc>
                <a:spcPct val="95000"/>
              </a:lnSpc>
              <a:spcBef>
                <a:spcPts val="0"/>
              </a:spcBef>
              <a:spcAft>
                <a:spcPts val="0"/>
              </a:spcAft>
            </a:pPr>
            <a:r>
              <a:rPr sz="850" b="0" i="0">
                <a:solidFill>
                  <a:srgbClr val="505A6B"/>
                </a:solidFill>
                <a:latin typeface="Calibri"/>
              </a:rPr>
              <a:t>UNIVERSIDAD PRIVADA DOMINGO SAVIO  ·  Sistema de Tutorias y Modalidades de Grado  ·  Grupo 7</a:t>
            </a:r>
          </a:p>
        </p:txBody>
      </p:sp>
      <p:sp>
        <p:nvSpPr>
          <p:cNvPr id="7" name="TextBox 6"/>
          <p:cNvSpPr txBox="1"/>
          <p:nvPr/>
        </p:nvSpPr>
        <p:spPr>
          <a:xfrm>
            <a:off x="11121847" y="6382512"/>
            <a:ext cx="502920" cy="274320"/>
          </a:xfrm>
          <a:prstGeom prst="rect">
            <a:avLst/>
          </a:prstGeom>
          <a:noFill/>
        </p:spPr>
        <p:txBody>
          <a:bodyPr wrap="square" anchor="t" lIns="0" rIns="0" tIns="0" bIns="0">
            <a:spAutoFit/>
          </a:bodyPr>
          <a:lstStyle/>
          <a:p>
            <a:pPr algn="r">
              <a:lnSpc>
                <a:spcPct val="95000"/>
              </a:lnSpc>
              <a:spcBef>
                <a:spcPts val="0"/>
              </a:spcBef>
              <a:spcAft>
                <a:spcPts val="0"/>
              </a:spcAft>
            </a:pPr>
            <a:r>
              <a:rPr sz="950" b="1" i="0">
                <a:solidFill>
                  <a:srgbClr val="142D5A"/>
                </a:solidFill>
                <a:latin typeface="Calibri"/>
              </a:rPr>
              <a:t>6 / 15</a:t>
            </a:r>
          </a:p>
        </p:txBody>
      </p:sp>
      <p:sp>
        <p:nvSpPr>
          <p:cNvPr id="8" name="Rectangle 7"/>
          <p:cNvSpPr/>
          <p:nvPr/>
        </p:nvSpPr>
        <p:spPr>
          <a:xfrm>
            <a:off x="566928" y="1481328"/>
            <a:ext cx="11057839" cy="25603"/>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66928" y="1545336"/>
            <a:ext cx="11057839" cy="237744"/>
          </a:xfrm>
          <a:prstGeom prst="rect">
            <a:avLst/>
          </a:prstGeom>
          <a:noFill/>
        </p:spPr>
        <p:txBody>
          <a:bodyPr wrap="square" anchor="t" lIns="0" rIns="0" tIns="0" bIns="0">
            <a:spAutoFit/>
          </a:bodyPr>
          <a:lstStyle/>
          <a:p>
            <a:pPr algn="l">
              <a:lnSpc>
                <a:spcPct val="95000"/>
              </a:lnSpc>
              <a:spcBef>
                <a:spcPts val="0"/>
              </a:spcBef>
              <a:spcAft>
                <a:spcPts val="0"/>
              </a:spcAft>
            </a:pPr>
            <a:r>
              <a:rPr sz="1150" b="1" i="0">
                <a:solidFill>
                  <a:srgbClr val="142D5A"/>
                </a:solidFill>
                <a:latin typeface="Calibri"/>
              </a:rPr>
              <a:t>FUNCIONALES</a:t>
            </a:r>
          </a:p>
        </p:txBody>
      </p:sp>
      <p:graphicFrame>
        <p:nvGraphicFramePr>
          <p:cNvPr id="10" name="Table 9"/>
          <p:cNvGraphicFramePr>
            <a:graphicFrameLocks noGrp="1"/>
          </p:cNvGraphicFramePr>
          <p:nvPr/>
        </p:nvGraphicFramePr>
        <p:xfrm>
          <a:off x="566928" y="1810512"/>
          <a:ext cx="11057838" cy="2328291"/>
        </p:xfrm>
        <a:graphic>
          <a:graphicData uri="http://schemas.openxmlformats.org/drawingml/2006/table">
            <a:tbl>
              <a:tblPr firstRow="1">
                <a:tableStyleId>{5C22544A-7EE6-4342-B048-85BDC9FD1C3A}</a:tableStyleId>
              </a:tblPr>
              <a:tblGrid>
                <a:gridCol w="2360662"/>
                <a:gridCol w="8697176"/>
              </a:tblGrid>
              <a:tr h="332613">
                <a:tc>
                  <a:txBody>
                    <a:bodyPr/>
                    <a:lstStyle/>
                    <a:p>
                      <a:pPr algn="ctr">
                        <a:lnSpc>
                          <a:spcPct val="92000"/>
                        </a:lnSpc>
                      </a:pPr>
                      <a:r>
                        <a:rPr sz="1300" b="1">
                          <a:solidFill>
                            <a:srgbClr val="FFFFFF"/>
                          </a:solidFill>
                          <a:latin typeface="Calibri"/>
                        </a:rPr>
                        <a:t>ID</a:t>
                      </a:r>
                    </a:p>
                  </a:txBody>
                  <a:tcPr marL="64008" marR="64008" marT="18288" marB="18288" anchor="ctr">
                    <a:solidFill>
                      <a:srgbClr val="142D5A"/>
                    </a:solidFill>
                  </a:tcPr>
                </a:tc>
                <a:tc>
                  <a:txBody>
                    <a:bodyPr/>
                    <a:lstStyle/>
                    <a:p>
                      <a:pPr algn="ctr">
                        <a:lnSpc>
                          <a:spcPct val="92000"/>
                        </a:lnSpc>
                      </a:pPr>
                      <a:r>
                        <a:rPr sz="1300" b="1">
                          <a:solidFill>
                            <a:srgbClr val="FFFFFF"/>
                          </a:solidFill>
                          <a:latin typeface="Calibri"/>
                        </a:rPr>
                        <a:t>Descripción resumida</a:t>
                      </a:r>
                    </a:p>
                  </a:txBody>
                  <a:tcPr marL="64008" marR="64008" marT="18288" marB="18288" anchor="ctr">
                    <a:solidFill>
                      <a:srgbClr val="142D5A"/>
                    </a:solidFill>
                  </a:tcPr>
                </a:tc>
              </a:tr>
              <a:tr h="332613">
                <a:tc>
                  <a:txBody>
                    <a:bodyPr/>
                    <a:lstStyle/>
                    <a:p>
                      <a:pPr algn="ctr">
                        <a:lnSpc>
                          <a:spcPct val="92000"/>
                        </a:lnSpc>
                      </a:pPr>
                      <a:r>
                        <a:rPr sz="1300" b="1">
                          <a:solidFill>
                            <a:srgbClr val="142D5A"/>
                          </a:solidFill>
                          <a:latin typeface="Calibri"/>
                        </a:rPr>
                        <a:t>RF-001 – RF-011</a:t>
                      </a:r>
                    </a:p>
                  </a:txBody>
                  <a:tcPr marL="64008" marR="64008" marT="18288" marB="18288" anchor="ctr">
                    <a:solidFill>
                      <a:srgbClr val="FFFFFF"/>
                    </a:solidFill>
                  </a:tcPr>
                </a:tc>
                <a:tc>
                  <a:txBody>
                    <a:bodyPr/>
                    <a:lstStyle/>
                    <a:p>
                      <a:pPr algn="l">
                        <a:lnSpc>
                          <a:spcPct val="92000"/>
                        </a:lnSpc>
                      </a:pPr>
                      <a:r>
                        <a:rPr sz="1300" b="0">
                          <a:solidFill>
                            <a:srgbClr val="202020"/>
                          </a:solidFill>
                          <a:latin typeface="Calibri"/>
                        </a:rPr>
                        <a:t>Autenticación, sesión, notificaciones y perfil.</a:t>
                      </a:r>
                    </a:p>
                  </a:txBody>
                  <a:tcPr marL="64008" marR="64008" marT="18288" marB="18288" anchor="ctr">
                    <a:solidFill>
                      <a:srgbClr val="FFFFFF"/>
                    </a:solidFill>
                  </a:tcPr>
                </a:tc>
              </a:tr>
              <a:tr h="332613">
                <a:tc>
                  <a:txBody>
                    <a:bodyPr/>
                    <a:lstStyle/>
                    <a:p>
                      <a:pPr algn="ctr">
                        <a:lnSpc>
                          <a:spcPct val="92000"/>
                        </a:lnSpc>
                      </a:pPr>
                      <a:r>
                        <a:rPr sz="1300" b="1">
                          <a:solidFill>
                            <a:srgbClr val="142D5A"/>
                          </a:solidFill>
                          <a:latin typeface="Calibri"/>
                        </a:rPr>
                        <a:t>RF-012 – RF-020</a:t>
                      </a:r>
                    </a:p>
                  </a:txBody>
                  <a:tcPr marL="64008" marR="64008" marT="18288" marB="18288" anchor="ctr">
                    <a:solidFill>
                      <a:srgbClr val="F2F5F9"/>
                    </a:solidFill>
                  </a:tcPr>
                </a:tc>
                <a:tc>
                  <a:txBody>
                    <a:bodyPr/>
                    <a:lstStyle/>
                    <a:p>
                      <a:pPr algn="l">
                        <a:lnSpc>
                          <a:spcPct val="92000"/>
                        </a:lnSpc>
                      </a:pPr>
                      <a:r>
                        <a:rPr sz="1300" b="0">
                          <a:solidFill>
                            <a:srgbClr val="202020"/>
                          </a:solidFill>
                          <a:latin typeface="Calibri"/>
                        </a:rPr>
                        <a:t>Usuarios, roles, carreras, materias, turnos.</a:t>
                      </a:r>
                    </a:p>
                  </a:txBody>
                  <a:tcPr marL="64008" marR="64008" marT="18288" marB="18288" anchor="ctr">
                    <a:solidFill>
                      <a:srgbClr val="F2F5F9"/>
                    </a:solidFill>
                  </a:tcPr>
                </a:tc>
              </a:tr>
              <a:tr h="332613">
                <a:tc>
                  <a:txBody>
                    <a:bodyPr/>
                    <a:lstStyle/>
                    <a:p>
                      <a:pPr algn="ctr">
                        <a:lnSpc>
                          <a:spcPct val="92000"/>
                        </a:lnSpc>
                      </a:pPr>
                      <a:r>
                        <a:rPr sz="1300" b="1">
                          <a:solidFill>
                            <a:srgbClr val="142D5A"/>
                          </a:solidFill>
                          <a:latin typeface="Calibri"/>
                        </a:rPr>
                        <a:t>RF-021 – RF-041</a:t>
                      </a:r>
                    </a:p>
                  </a:txBody>
                  <a:tcPr marL="64008" marR="64008" marT="18288" marB="18288" anchor="ctr">
                    <a:solidFill>
                      <a:srgbClr val="FFFFFF"/>
                    </a:solidFill>
                  </a:tcPr>
                </a:tc>
                <a:tc>
                  <a:txBody>
                    <a:bodyPr/>
                    <a:lstStyle/>
                    <a:p>
                      <a:pPr algn="l">
                        <a:lnSpc>
                          <a:spcPct val="92000"/>
                        </a:lnSpc>
                      </a:pPr>
                      <a:r>
                        <a:rPr sz="1300" b="0">
                          <a:solidFill>
                            <a:srgbClr val="202020"/>
                          </a:solidFill>
                          <a:latin typeface="Calibri"/>
                        </a:rPr>
                        <a:t>Ofertas, disponibilidad, solicitudes, estados, evaluaciones.</a:t>
                      </a:r>
                    </a:p>
                  </a:txBody>
                  <a:tcPr marL="64008" marR="64008" marT="18288" marB="18288" anchor="ctr">
                    <a:solidFill>
                      <a:srgbClr val="FFFFFF"/>
                    </a:solidFill>
                  </a:tcPr>
                </a:tc>
              </a:tr>
              <a:tr h="332613">
                <a:tc>
                  <a:txBody>
                    <a:bodyPr/>
                    <a:lstStyle/>
                    <a:p>
                      <a:pPr algn="ctr">
                        <a:lnSpc>
                          <a:spcPct val="92000"/>
                        </a:lnSpc>
                      </a:pPr>
                      <a:r>
                        <a:rPr sz="1300" b="1">
                          <a:solidFill>
                            <a:srgbClr val="142D5A"/>
                          </a:solidFill>
                          <a:latin typeface="Calibri"/>
                        </a:rPr>
                        <a:t>RF-042 – RF-050</a:t>
                      </a:r>
                    </a:p>
                  </a:txBody>
                  <a:tcPr marL="64008" marR="64008" marT="18288" marB="18288" anchor="ctr">
                    <a:solidFill>
                      <a:srgbClr val="F2F5F9"/>
                    </a:solidFill>
                  </a:tcPr>
                </a:tc>
                <a:tc>
                  <a:txBody>
                    <a:bodyPr/>
                    <a:lstStyle/>
                    <a:p>
                      <a:pPr algn="l">
                        <a:lnSpc>
                          <a:spcPct val="92000"/>
                        </a:lnSpc>
                      </a:pPr>
                      <a:r>
                        <a:rPr sz="1300" b="0">
                          <a:solidFill>
                            <a:srgbClr val="202020"/>
                          </a:solidFill>
                          <a:latin typeface="Calibri"/>
                        </a:rPr>
                        <a:t>Panel de indicadores y filtros.</a:t>
                      </a:r>
                    </a:p>
                  </a:txBody>
                  <a:tcPr marL="64008" marR="64008" marT="18288" marB="18288" anchor="ctr">
                    <a:solidFill>
                      <a:srgbClr val="F2F5F9"/>
                    </a:solidFill>
                  </a:tcPr>
                </a:tc>
              </a:tr>
              <a:tr h="332613">
                <a:tc>
                  <a:txBody>
                    <a:bodyPr/>
                    <a:lstStyle/>
                    <a:p>
                      <a:pPr algn="ctr">
                        <a:lnSpc>
                          <a:spcPct val="92000"/>
                        </a:lnSpc>
                      </a:pPr>
                      <a:r>
                        <a:rPr sz="1300" b="1">
                          <a:solidFill>
                            <a:srgbClr val="142D5A"/>
                          </a:solidFill>
                          <a:latin typeface="Calibri"/>
                        </a:rPr>
                        <a:t>RF-051 – RF-080</a:t>
                      </a:r>
                    </a:p>
                  </a:txBody>
                  <a:tcPr marL="64008" marR="64008" marT="18288" marB="18288" anchor="ctr">
                    <a:solidFill>
                      <a:srgbClr val="FFFFFF"/>
                    </a:solidFill>
                  </a:tcPr>
                </a:tc>
                <a:tc>
                  <a:txBody>
                    <a:bodyPr/>
                    <a:lstStyle/>
                    <a:p>
                      <a:pPr algn="l">
                        <a:lnSpc>
                          <a:spcPct val="92000"/>
                        </a:lnSpc>
                      </a:pPr>
                      <a:r>
                        <a:rPr sz="1300" b="0">
                          <a:solidFill>
                            <a:srgbClr val="202020"/>
                          </a:solidFill>
                          <a:latin typeface="Calibri"/>
                        </a:rPr>
                        <a:t>Catálogo, declaración, avales, expedientes, tribunal, actas, documentos.</a:t>
                      </a:r>
                    </a:p>
                  </a:txBody>
                  <a:tcPr marL="64008" marR="64008" marT="18288" marB="18288" anchor="ctr">
                    <a:solidFill>
                      <a:srgbClr val="FFFFFF"/>
                    </a:solidFill>
                  </a:tcPr>
                </a:tc>
              </a:tr>
              <a:tr h="332613">
                <a:tc>
                  <a:txBody>
                    <a:bodyPr/>
                    <a:lstStyle/>
                    <a:p>
                      <a:pPr algn="ctr">
                        <a:lnSpc>
                          <a:spcPct val="92000"/>
                        </a:lnSpc>
                      </a:pPr>
                      <a:r>
                        <a:rPr sz="1300" b="1">
                          <a:solidFill>
                            <a:srgbClr val="142D5A"/>
                          </a:solidFill>
                          <a:latin typeface="Calibri"/>
                        </a:rPr>
                        <a:t>RF-081 – RF-083</a:t>
                      </a:r>
                    </a:p>
                  </a:txBody>
                  <a:tcPr marL="64008" marR="64008" marT="18288" marB="18288" anchor="ctr">
                    <a:solidFill>
                      <a:srgbClr val="F2F5F9"/>
                    </a:solidFill>
                  </a:tcPr>
                </a:tc>
                <a:tc>
                  <a:txBody>
                    <a:bodyPr/>
                    <a:lstStyle/>
                    <a:p>
                      <a:pPr algn="l">
                        <a:lnSpc>
                          <a:spcPct val="92000"/>
                        </a:lnSpc>
                      </a:pPr>
                      <a:r>
                        <a:rPr sz="1300" b="0">
                          <a:solidFill>
                            <a:srgbClr val="202020"/>
                          </a:solidFill>
                          <a:latin typeface="Calibri"/>
                        </a:rPr>
                        <a:t>Aplicación de permisos por rol.</a:t>
                      </a:r>
                    </a:p>
                  </a:txBody>
                  <a:tcPr marL="64008" marR="64008" marT="18288" marB="18288" anchor="ctr">
                    <a:solidFill>
                      <a:srgbClr val="F2F5F9"/>
                    </a:solidFill>
                  </a:tcPr>
                </a:tc>
              </a:tr>
            </a:tbl>
          </a:graphicData>
        </a:graphic>
      </p:graphicFrame>
      <p:sp>
        <p:nvSpPr>
          <p:cNvPr id="11" name="Rectangle 10"/>
          <p:cNvSpPr/>
          <p:nvPr/>
        </p:nvSpPr>
        <p:spPr>
          <a:xfrm>
            <a:off x="566928" y="4285107"/>
            <a:ext cx="11057839" cy="25603"/>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66928" y="4349115"/>
            <a:ext cx="11057839" cy="237744"/>
          </a:xfrm>
          <a:prstGeom prst="rect">
            <a:avLst/>
          </a:prstGeom>
          <a:noFill/>
        </p:spPr>
        <p:txBody>
          <a:bodyPr wrap="square" anchor="t" lIns="0" rIns="0" tIns="0" bIns="0">
            <a:spAutoFit/>
          </a:bodyPr>
          <a:lstStyle/>
          <a:p>
            <a:pPr algn="l">
              <a:lnSpc>
                <a:spcPct val="95000"/>
              </a:lnSpc>
              <a:spcBef>
                <a:spcPts val="0"/>
              </a:spcBef>
              <a:spcAft>
                <a:spcPts val="0"/>
              </a:spcAft>
            </a:pPr>
            <a:r>
              <a:rPr sz="1150" b="1" i="0">
                <a:solidFill>
                  <a:srgbClr val="142D5A"/>
                </a:solidFill>
                <a:latin typeface="Calibri"/>
              </a:rPr>
              <a:t>NO FUNCIONALES</a:t>
            </a:r>
          </a:p>
        </p:txBody>
      </p:sp>
      <p:graphicFrame>
        <p:nvGraphicFramePr>
          <p:cNvPr id="13" name="Table 12"/>
          <p:cNvGraphicFramePr>
            <a:graphicFrameLocks noGrp="1"/>
          </p:cNvGraphicFramePr>
          <p:nvPr/>
        </p:nvGraphicFramePr>
        <p:xfrm>
          <a:off x="566928" y="4614291"/>
          <a:ext cx="11057839" cy="1429890"/>
        </p:xfrm>
        <a:graphic>
          <a:graphicData uri="http://schemas.openxmlformats.org/drawingml/2006/table">
            <a:tbl>
              <a:tblPr firstRow="1">
                <a:tableStyleId>{5C22544A-7EE6-4342-B048-85BDC9FD1C3A}</a:tableStyleId>
              </a:tblPr>
              <a:tblGrid>
                <a:gridCol w="2551809"/>
                <a:gridCol w="8506030"/>
              </a:tblGrid>
              <a:tr h="238315">
                <a:tc>
                  <a:txBody>
                    <a:bodyPr/>
                    <a:lstStyle/>
                    <a:p>
                      <a:pPr algn="ctr">
                        <a:lnSpc>
                          <a:spcPct val="92000"/>
                        </a:lnSpc>
                      </a:pPr>
                      <a:r>
                        <a:rPr sz="750" b="1">
                          <a:solidFill>
                            <a:srgbClr val="FFFFFF"/>
                          </a:solidFill>
                          <a:latin typeface="Calibri"/>
                        </a:rPr>
                        <a:t>ID</a:t>
                      </a:r>
                    </a:p>
                  </a:txBody>
                  <a:tcPr marL="64008" marR="64008" marT="18288" marB="18288" anchor="ctr">
                    <a:solidFill>
                      <a:srgbClr val="142D5A"/>
                    </a:solidFill>
                  </a:tcPr>
                </a:tc>
                <a:tc>
                  <a:txBody>
                    <a:bodyPr/>
                    <a:lstStyle/>
                    <a:p>
                      <a:pPr algn="ctr">
                        <a:lnSpc>
                          <a:spcPct val="92000"/>
                        </a:lnSpc>
                      </a:pPr>
                      <a:r>
                        <a:rPr sz="750" b="1">
                          <a:solidFill>
                            <a:srgbClr val="FFFFFF"/>
                          </a:solidFill>
                          <a:latin typeface="Calibri"/>
                        </a:rPr>
                        <a:t>Descripción resumida</a:t>
                      </a:r>
                    </a:p>
                  </a:txBody>
                  <a:tcPr marL="64008" marR="64008" marT="18288" marB="18288" anchor="ctr">
                    <a:solidFill>
                      <a:srgbClr val="142D5A"/>
                    </a:solidFill>
                  </a:tcPr>
                </a:tc>
              </a:tr>
              <a:tr h="238315">
                <a:tc>
                  <a:txBody>
                    <a:bodyPr/>
                    <a:lstStyle/>
                    <a:p>
                      <a:pPr algn="ctr">
                        <a:lnSpc>
                          <a:spcPct val="92000"/>
                        </a:lnSpc>
                      </a:pPr>
                      <a:r>
                        <a:rPr sz="750" b="1">
                          <a:solidFill>
                            <a:srgbClr val="142D5A"/>
                          </a:solidFill>
                          <a:latin typeface="Calibri"/>
                        </a:rPr>
                        <a:t>RNF-001 – RNF-005</a:t>
                      </a:r>
                    </a:p>
                  </a:txBody>
                  <a:tcPr marL="64008" marR="64008" marT="18288" marB="18288" anchor="ctr">
                    <a:solidFill>
                      <a:srgbClr val="FFFFFF"/>
                    </a:solidFill>
                  </a:tcPr>
                </a:tc>
                <a:tc>
                  <a:txBody>
                    <a:bodyPr/>
                    <a:lstStyle/>
                    <a:p>
                      <a:pPr algn="l">
                        <a:lnSpc>
                          <a:spcPct val="92000"/>
                        </a:lnSpc>
                      </a:pPr>
                      <a:r>
                        <a:rPr sz="750" b="0">
                          <a:solidFill>
                            <a:srgbClr val="202020"/>
                          </a:solidFill>
                          <a:latin typeface="Calibri"/>
                        </a:rPr>
                        <a:t>Rendimiento, índices y conexiones persistentes.</a:t>
                      </a:r>
                    </a:p>
                  </a:txBody>
                  <a:tcPr marL="64008" marR="64008" marT="18288" marB="18288" anchor="ctr">
                    <a:solidFill>
                      <a:srgbClr val="FFFFFF"/>
                    </a:solidFill>
                  </a:tcPr>
                </a:tc>
              </a:tr>
              <a:tr h="238315">
                <a:tc>
                  <a:txBody>
                    <a:bodyPr/>
                    <a:lstStyle/>
                    <a:p>
                      <a:pPr algn="ctr">
                        <a:lnSpc>
                          <a:spcPct val="92000"/>
                        </a:lnSpc>
                      </a:pPr>
                      <a:r>
                        <a:rPr sz="750" b="1">
                          <a:solidFill>
                            <a:srgbClr val="142D5A"/>
                          </a:solidFill>
                          <a:latin typeface="Calibri"/>
                        </a:rPr>
                        <a:t>RNF-006 – RNF-015</a:t>
                      </a:r>
                    </a:p>
                  </a:txBody>
                  <a:tcPr marL="64008" marR="64008" marT="18288" marB="18288" anchor="ctr">
                    <a:solidFill>
                      <a:srgbClr val="F2F5F9"/>
                    </a:solidFill>
                  </a:tcPr>
                </a:tc>
                <a:tc>
                  <a:txBody>
                    <a:bodyPr/>
                    <a:lstStyle/>
                    <a:p>
                      <a:pPr algn="l">
                        <a:lnSpc>
                          <a:spcPct val="92000"/>
                        </a:lnSpc>
                      </a:pPr>
                      <a:r>
                        <a:rPr sz="750" b="0">
                          <a:solidFill>
                            <a:srgbClr val="202020"/>
                          </a:solidFill>
                          <a:latin typeface="Calibri"/>
                        </a:rPr>
                        <a:t>Contraseñas, consultas preparadas, CSRF, sesiones, permisos, auditoría.</a:t>
                      </a:r>
                    </a:p>
                  </a:txBody>
                  <a:tcPr marL="64008" marR="64008" marT="18288" marB="18288" anchor="ctr">
                    <a:solidFill>
                      <a:srgbClr val="F2F5F9"/>
                    </a:solidFill>
                  </a:tcPr>
                </a:tc>
              </a:tr>
              <a:tr h="238315">
                <a:tc>
                  <a:txBody>
                    <a:bodyPr/>
                    <a:lstStyle/>
                    <a:p>
                      <a:pPr algn="ctr">
                        <a:lnSpc>
                          <a:spcPct val="92000"/>
                        </a:lnSpc>
                      </a:pPr>
                      <a:r>
                        <a:rPr sz="750" b="1">
                          <a:solidFill>
                            <a:srgbClr val="142D5A"/>
                          </a:solidFill>
                          <a:latin typeface="Calibri"/>
                        </a:rPr>
                        <a:t>RNF-016 – RNF-021</a:t>
                      </a:r>
                    </a:p>
                  </a:txBody>
                  <a:tcPr marL="64008" marR="64008" marT="18288" marB="18288" anchor="ctr">
                    <a:solidFill>
                      <a:srgbClr val="FFFFFF"/>
                    </a:solidFill>
                  </a:tcPr>
                </a:tc>
                <a:tc>
                  <a:txBody>
                    <a:bodyPr/>
                    <a:lstStyle/>
                    <a:p>
                      <a:pPr algn="l">
                        <a:lnSpc>
                          <a:spcPct val="92000"/>
                        </a:lnSpc>
                      </a:pPr>
                      <a:r>
                        <a:rPr sz="750" b="0">
                          <a:solidFill>
                            <a:srgbClr val="202020"/>
                          </a:solidFill>
                          <a:latin typeface="Calibri"/>
                        </a:rPr>
                        <a:t>Usabilidad e identidad visual.</a:t>
                      </a:r>
                    </a:p>
                  </a:txBody>
                  <a:tcPr marL="64008" marR="64008" marT="18288" marB="18288" anchor="ctr">
                    <a:solidFill>
                      <a:srgbClr val="FFFFFF"/>
                    </a:solidFill>
                  </a:tcPr>
                </a:tc>
              </a:tr>
              <a:tr h="238315">
                <a:tc>
                  <a:txBody>
                    <a:bodyPr/>
                    <a:lstStyle/>
                    <a:p>
                      <a:pPr algn="ctr">
                        <a:lnSpc>
                          <a:spcPct val="92000"/>
                        </a:lnSpc>
                      </a:pPr>
                      <a:r>
                        <a:rPr sz="750" b="1">
                          <a:solidFill>
                            <a:srgbClr val="142D5A"/>
                          </a:solidFill>
                          <a:latin typeface="Calibri"/>
                        </a:rPr>
                        <a:t>RNF-022 – RNF-029</a:t>
                      </a:r>
                    </a:p>
                  </a:txBody>
                  <a:tcPr marL="64008" marR="64008" marT="18288" marB="18288" anchor="ctr">
                    <a:solidFill>
                      <a:srgbClr val="F2F5F9"/>
                    </a:solidFill>
                  </a:tcPr>
                </a:tc>
                <a:tc>
                  <a:txBody>
                    <a:bodyPr/>
                    <a:lstStyle/>
                    <a:p>
                      <a:pPr algn="l">
                        <a:lnSpc>
                          <a:spcPct val="92000"/>
                        </a:lnSpc>
                      </a:pPr>
                      <a:r>
                        <a:rPr sz="750" b="0">
                          <a:solidFill>
                            <a:srgbClr val="202020"/>
                          </a:solidFill>
                          <a:latin typeface="Calibri"/>
                        </a:rPr>
                        <a:t>Mantenibilidad y versionado del esquema.</a:t>
                      </a:r>
                    </a:p>
                  </a:txBody>
                  <a:tcPr marL="64008" marR="64008" marT="18288" marB="18288" anchor="ctr">
                    <a:solidFill>
                      <a:srgbClr val="F2F5F9"/>
                    </a:solidFill>
                  </a:tcPr>
                </a:tc>
              </a:tr>
              <a:tr h="238315">
                <a:tc>
                  <a:txBody>
                    <a:bodyPr/>
                    <a:lstStyle/>
                    <a:p>
                      <a:pPr algn="ctr">
                        <a:lnSpc>
                          <a:spcPct val="92000"/>
                        </a:lnSpc>
                      </a:pPr>
                      <a:r>
                        <a:rPr sz="750" b="1">
                          <a:solidFill>
                            <a:srgbClr val="142D5A"/>
                          </a:solidFill>
                          <a:latin typeface="Calibri"/>
                        </a:rPr>
                        <a:t>RNF-030 – RNF-043</a:t>
                      </a:r>
                    </a:p>
                  </a:txBody>
                  <a:tcPr marL="64008" marR="64008" marT="18288" marB="18288" anchor="ctr">
                    <a:solidFill>
                      <a:srgbClr val="FFFFFF"/>
                    </a:solidFill>
                  </a:tcPr>
                </a:tc>
                <a:tc>
                  <a:txBody>
                    <a:bodyPr/>
                    <a:lstStyle/>
                    <a:p>
                      <a:pPr algn="l">
                        <a:lnSpc>
                          <a:spcPct val="92000"/>
                        </a:lnSpc>
                      </a:pPr>
                      <a:r>
                        <a:rPr sz="750" b="0">
                          <a:solidFill>
                            <a:srgbClr val="202020"/>
                          </a:solidFill>
                          <a:latin typeface="Calibri"/>
                        </a:rPr>
                        <a:t>Portabilidad, confiabilidad, integridad y compatibilidad.</a:t>
                      </a:r>
                    </a:p>
                  </a:txBody>
                  <a:tcPr marL="64008" marR="64008" marT="18288" marB="18288" anchor="ctr">
                    <a:solidFill>
                      <a:srgbClr val="FFFF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42D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146304"/>
            <a:ext cx="12191695" cy="3200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66928" y="384048"/>
            <a:ext cx="11057839" cy="566928"/>
          </a:xfrm>
          <a:prstGeom prst="rect">
            <a:avLst/>
          </a:prstGeom>
          <a:noFill/>
        </p:spPr>
        <p:txBody>
          <a:bodyPr wrap="square" anchor="t" lIns="0" rIns="0" tIns="0" bIns="0">
            <a:spAutoFit/>
          </a:bodyPr>
          <a:lstStyle/>
          <a:p>
            <a:pPr algn="l">
              <a:lnSpc>
                <a:spcPct val="90000"/>
              </a:lnSpc>
              <a:spcBef>
                <a:spcPts val="0"/>
              </a:spcBef>
              <a:spcAft>
                <a:spcPts val="0"/>
              </a:spcAft>
            </a:pPr>
            <a:r>
              <a:rPr sz="2700" b="1" i="0">
                <a:solidFill>
                  <a:srgbClr val="142D5A"/>
                </a:solidFill>
                <a:latin typeface="Calibri"/>
              </a:rPr>
              <a:t>Arquitectura del sistema</a:t>
            </a:r>
          </a:p>
        </p:txBody>
      </p:sp>
      <p:sp>
        <p:nvSpPr>
          <p:cNvPr id="5" name="Rectangle 4"/>
          <p:cNvSpPr/>
          <p:nvPr/>
        </p:nvSpPr>
        <p:spPr>
          <a:xfrm>
            <a:off x="566928" y="1115568"/>
            <a:ext cx="11057839" cy="20116"/>
          </a:xfrm>
          <a:prstGeom prst="rect">
            <a:avLst/>
          </a:prstGeom>
          <a:solidFill>
            <a:srgbClr val="C6D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6382512"/>
            <a:ext cx="10600639" cy="274320"/>
          </a:xfrm>
          <a:prstGeom prst="rect">
            <a:avLst/>
          </a:prstGeom>
          <a:noFill/>
        </p:spPr>
        <p:txBody>
          <a:bodyPr wrap="square" anchor="t" lIns="0" rIns="0" tIns="0" bIns="0">
            <a:spAutoFit/>
          </a:bodyPr>
          <a:lstStyle/>
          <a:p>
            <a:pPr algn="l">
              <a:lnSpc>
                <a:spcPct val="95000"/>
              </a:lnSpc>
              <a:spcBef>
                <a:spcPts val="0"/>
              </a:spcBef>
              <a:spcAft>
                <a:spcPts val="0"/>
              </a:spcAft>
            </a:pPr>
            <a:r>
              <a:rPr sz="850" b="0" i="0">
                <a:solidFill>
                  <a:srgbClr val="505A6B"/>
                </a:solidFill>
                <a:latin typeface="Calibri"/>
              </a:rPr>
              <a:t>UNIVERSIDAD PRIVADA DOMINGO SAVIO  ·  Sistema de Tutorias y Modalidades de Grado  ·  Grupo 7</a:t>
            </a:r>
          </a:p>
        </p:txBody>
      </p:sp>
      <p:sp>
        <p:nvSpPr>
          <p:cNvPr id="7" name="TextBox 6"/>
          <p:cNvSpPr txBox="1"/>
          <p:nvPr/>
        </p:nvSpPr>
        <p:spPr>
          <a:xfrm>
            <a:off x="11121847" y="6382512"/>
            <a:ext cx="502920" cy="274320"/>
          </a:xfrm>
          <a:prstGeom prst="rect">
            <a:avLst/>
          </a:prstGeom>
          <a:noFill/>
        </p:spPr>
        <p:txBody>
          <a:bodyPr wrap="square" anchor="t" lIns="0" rIns="0" tIns="0" bIns="0">
            <a:spAutoFit/>
          </a:bodyPr>
          <a:lstStyle/>
          <a:p>
            <a:pPr algn="r">
              <a:lnSpc>
                <a:spcPct val="95000"/>
              </a:lnSpc>
              <a:spcBef>
                <a:spcPts val="0"/>
              </a:spcBef>
              <a:spcAft>
                <a:spcPts val="0"/>
              </a:spcAft>
            </a:pPr>
            <a:r>
              <a:rPr sz="950" b="1" i="0">
                <a:solidFill>
                  <a:srgbClr val="142D5A"/>
                </a:solidFill>
                <a:latin typeface="Calibri"/>
              </a:rPr>
              <a:t>7 / 15</a:t>
            </a:r>
          </a:p>
        </p:txBody>
      </p:sp>
      <p:pic>
        <p:nvPicPr>
          <p:cNvPr id="8" name="Picture 7" descr="Presentacion_Defensa_01.png"/>
          <p:cNvPicPr>
            <a:picLocks noChangeAspect="1"/>
          </p:cNvPicPr>
          <p:nvPr/>
        </p:nvPicPr>
        <p:blipFill>
          <a:blip r:embed="rId2"/>
          <a:stretch>
            <a:fillRect/>
          </a:stretch>
        </p:blipFill>
        <p:spPr>
          <a:xfrm>
            <a:off x="4988062" y="1481328"/>
            <a:ext cx="2215570" cy="4590288"/>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42D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146304"/>
            <a:ext cx="12191695" cy="3200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66928" y="384048"/>
            <a:ext cx="11057839" cy="566928"/>
          </a:xfrm>
          <a:prstGeom prst="rect">
            <a:avLst/>
          </a:prstGeom>
          <a:noFill/>
        </p:spPr>
        <p:txBody>
          <a:bodyPr wrap="square" anchor="t" lIns="0" rIns="0" tIns="0" bIns="0">
            <a:spAutoFit/>
          </a:bodyPr>
          <a:lstStyle/>
          <a:p>
            <a:pPr algn="l">
              <a:lnSpc>
                <a:spcPct val="90000"/>
              </a:lnSpc>
              <a:spcBef>
                <a:spcPts val="0"/>
              </a:spcBef>
              <a:spcAft>
                <a:spcPts val="0"/>
              </a:spcAft>
            </a:pPr>
            <a:r>
              <a:rPr sz="2700" b="1" i="0">
                <a:solidFill>
                  <a:srgbClr val="142D5A"/>
                </a:solidFill>
                <a:latin typeface="Calibri"/>
              </a:rPr>
              <a:t>Modelo de datos</a:t>
            </a:r>
          </a:p>
        </p:txBody>
      </p:sp>
      <p:sp>
        <p:nvSpPr>
          <p:cNvPr id="5" name="Rectangle 4"/>
          <p:cNvSpPr/>
          <p:nvPr/>
        </p:nvSpPr>
        <p:spPr>
          <a:xfrm>
            <a:off x="566928" y="1115568"/>
            <a:ext cx="11057839" cy="20116"/>
          </a:xfrm>
          <a:prstGeom prst="rect">
            <a:avLst/>
          </a:prstGeom>
          <a:solidFill>
            <a:srgbClr val="C6D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6382512"/>
            <a:ext cx="10600639" cy="274320"/>
          </a:xfrm>
          <a:prstGeom prst="rect">
            <a:avLst/>
          </a:prstGeom>
          <a:noFill/>
        </p:spPr>
        <p:txBody>
          <a:bodyPr wrap="square" anchor="t" lIns="0" rIns="0" tIns="0" bIns="0">
            <a:spAutoFit/>
          </a:bodyPr>
          <a:lstStyle/>
          <a:p>
            <a:pPr algn="l">
              <a:lnSpc>
                <a:spcPct val="95000"/>
              </a:lnSpc>
              <a:spcBef>
                <a:spcPts val="0"/>
              </a:spcBef>
              <a:spcAft>
                <a:spcPts val="0"/>
              </a:spcAft>
            </a:pPr>
            <a:r>
              <a:rPr sz="850" b="0" i="0">
                <a:solidFill>
                  <a:srgbClr val="505A6B"/>
                </a:solidFill>
                <a:latin typeface="Calibri"/>
              </a:rPr>
              <a:t>UNIVERSIDAD PRIVADA DOMINGO SAVIO  ·  Sistema de Tutorias y Modalidades de Grado  ·  Grupo 7</a:t>
            </a:r>
          </a:p>
        </p:txBody>
      </p:sp>
      <p:sp>
        <p:nvSpPr>
          <p:cNvPr id="7" name="TextBox 6"/>
          <p:cNvSpPr txBox="1"/>
          <p:nvPr/>
        </p:nvSpPr>
        <p:spPr>
          <a:xfrm>
            <a:off x="11121847" y="6382512"/>
            <a:ext cx="502920" cy="274320"/>
          </a:xfrm>
          <a:prstGeom prst="rect">
            <a:avLst/>
          </a:prstGeom>
          <a:noFill/>
        </p:spPr>
        <p:txBody>
          <a:bodyPr wrap="square" anchor="t" lIns="0" rIns="0" tIns="0" bIns="0">
            <a:spAutoFit/>
          </a:bodyPr>
          <a:lstStyle/>
          <a:p>
            <a:pPr algn="r">
              <a:lnSpc>
                <a:spcPct val="95000"/>
              </a:lnSpc>
              <a:spcBef>
                <a:spcPts val="0"/>
              </a:spcBef>
              <a:spcAft>
                <a:spcPts val="0"/>
              </a:spcAft>
            </a:pPr>
            <a:r>
              <a:rPr sz="950" b="1" i="0">
                <a:solidFill>
                  <a:srgbClr val="142D5A"/>
                </a:solidFill>
                <a:latin typeface="Calibri"/>
              </a:rPr>
              <a:t>8 / 15</a:t>
            </a:r>
          </a:p>
        </p:txBody>
      </p:sp>
      <p:pic>
        <p:nvPicPr>
          <p:cNvPr id="8" name="Picture 7" descr="Presentacion_Defensa_01.png"/>
          <p:cNvPicPr>
            <a:picLocks noChangeAspect="1"/>
          </p:cNvPicPr>
          <p:nvPr/>
        </p:nvPicPr>
        <p:blipFill>
          <a:blip r:embed="rId2"/>
          <a:stretch>
            <a:fillRect/>
          </a:stretch>
        </p:blipFill>
        <p:spPr>
          <a:xfrm>
            <a:off x="4988062" y="1481328"/>
            <a:ext cx="2215570" cy="4590288"/>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42D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146304"/>
            <a:ext cx="12191695" cy="3200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66928" y="384048"/>
            <a:ext cx="11057839" cy="566928"/>
          </a:xfrm>
          <a:prstGeom prst="rect">
            <a:avLst/>
          </a:prstGeom>
          <a:noFill/>
        </p:spPr>
        <p:txBody>
          <a:bodyPr wrap="square" anchor="t" lIns="0" rIns="0" tIns="0" bIns="0">
            <a:spAutoFit/>
          </a:bodyPr>
          <a:lstStyle/>
          <a:p>
            <a:pPr algn="l">
              <a:lnSpc>
                <a:spcPct val="90000"/>
              </a:lnSpc>
              <a:spcBef>
                <a:spcPts val="0"/>
              </a:spcBef>
              <a:spcAft>
                <a:spcPts val="0"/>
              </a:spcAft>
            </a:pPr>
            <a:r>
              <a:rPr sz="2700" b="1" i="0">
                <a:solidFill>
                  <a:srgbClr val="142D5A"/>
                </a:solidFill>
                <a:latin typeface="Calibri"/>
              </a:rPr>
              <a:t>Flujo de la tutoría y la declaración</a:t>
            </a:r>
          </a:p>
        </p:txBody>
      </p:sp>
      <p:sp>
        <p:nvSpPr>
          <p:cNvPr id="5" name="Rectangle 4"/>
          <p:cNvSpPr/>
          <p:nvPr/>
        </p:nvSpPr>
        <p:spPr>
          <a:xfrm>
            <a:off x="566928" y="1115568"/>
            <a:ext cx="11057839" cy="20116"/>
          </a:xfrm>
          <a:prstGeom prst="rect">
            <a:avLst/>
          </a:prstGeom>
          <a:solidFill>
            <a:srgbClr val="C6D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6382512"/>
            <a:ext cx="10600639" cy="274320"/>
          </a:xfrm>
          <a:prstGeom prst="rect">
            <a:avLst/>
          </a:prstGeom>
          <a:noFill/>
        </p:spPr>
        <p:txBody>
          <a:bodyPr wrap="square" anchor="t" lIns="0" rIns="0" tIns="0" bIns="0">
            <a:spAutoFit/>
          </a:bodyPr>
          <a:lstStyle/>
          <a:p>
            <a:pPr algn="l">
              <a:lnSpc>
                <a:spcPct val="95000"/>
              </a:lnSpc>
              <a:spcBef>
                <a:spcPts val="0"/>
              </a:spcBef>
              <a:spcAft>
                <a:spcPts val="0"/>
              </a:spcAft>
            </a:pPr>
            <a:r>
              <a:rPr sz="850" b="0" i="0">
                <a:solidFill>
                  <a:srgbClr val="505A6B"/>
                </a:solidFill>
                <a:latin typeface="Calibri"/>
              </a:rPr>
              <a:t>UNIVERSIDAD PRIVADA DOMINGO SAVIO  ·  Sistema de Tutorias y Modalidades de Grado  ·  Grupo 7</a:t>
            </a:r>
          </a:p>
        </p:txBody>
      </p:sp>
      <p:sp>
        <p:nvSpPr>
          <p:cNvPr id="7" name="TextBox 6"/>
          <p:cNvSpPr txBox="1"/>
          <p:nvPr/>
        </p:nvSpPr>
        <p:spPr>
          <a:xfrm>
            <a:off x="11121847" y="6382512"/>
            <a:ext cx="502920" cy="274320"/>
          </a:xfrm>
          <a:prstGeom prst="rect">
            <a:avLst/>
          </a:prstGeom>
          <a:noFill/>
        </p:spPr>
        <p:txBody>
          <a:bodyPr wrap="square" anchor="t" lIns="0" rIns="0" tIns="0" bIns="0">
            <a:spAutoFit/>
          </a:bodyPr>
          <a:lstStyle/>
          <a:p>
            <a:pPr algn="r">
              <a:lnSpc>
                <a:spcPct val="95000"/>
              </a:lnSpc>
              <a:spcBef>
                <a:spcPts val="0"/>
              </a:spcBef>
              <a:spcAft>
                <a:spcPts val="0"/>
              </a:spcAft>
            </a:pPr>
            <a:r>
              <a:rPr sz="950" b="1" i="0">
                <a:solidFill>
                  <a:srgbClr val="142D5A"/>
                </a:solidFill>
                <a:latin typeface="Calibri"/>
              </a:rPr>
              <a:t>9 / 15</a:t>
            </a:r>
          </a:p>
        </p:txBody>
      </p:sp>
      <p:sp>
        <p:nvSpPr>
          <p:cNvPr id="8" name="Rectangle 7"/>
          <p:cNvSpPr/>
          <p:nvPr/>
        </p:nvSpPr>
        <p:spPr>
          <a:xfrm>
            <a:off x="566928" y="1481328"/>
            <a:ext cx="11057839" cy="25603"/>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66928" y="1545336"/>
            <a:ext cx="11057839" cy="237744"/>
          </a:xfrm>
          <a:prstGeom prst="rect">
            <a:avLst/>
          </a:prstGeom>
          <a:noFill/>
        </p:spPr>
        <p:txBody>
          <a:bodyPr wrap="square" anchor="t" lIns="0" rIns="0" tIns="0" bIns="0">
            <a:spAutoFit/>
          </a:bodyPr>
          <a:lstStyle/>
          <a:p>
            <a:pPr algn="l">
              <a:lnSpc>
                <a:spcPct val="95000"/>
              </a:lnSpc>
              <a:spcBef>
                <a:spcPts val="0"/>
              </a:spcBef>
              <a:spcAft>
                <a:spcPts val="0"/>
              </a:spcAft>
            </a:pPr>
            <a:r>
              <a:rPr sz="1150" b="1" i="0">
                <a:solidFill>
                  <a:srgbClr val="142D5A"/>
                </a:solidFill>
                <a:latin typeface="Calibri"/>
              </a:rPr>
              <a:t>CICLO DE LA TUTORÍA</a:t>
            </a:r>
          </a:p>
        </p:txBody>
      </p:sp>
      <p:pic>
        <p:nvPicPr>
          <p:cNvPr id="10" name="Picture 9" descr="Presentacion_Defensa_01.png"/>
          <p:cNvPicPr>
            <a:picLocks noChangeAspect="1"/>
          </p:cNvPicPr>
          <p:nvPr/>
        </p:nvPicPr>
        <p:blipFill>
          <a:blip r:embed="rId2"/>
          <a:stretch>
            <a:fillRect/>
          </a:stretch>
        </p:blipFill>
        <p:spPr>
          <a:xfrm>
            <a:off x="5683186" y="1810512"/>
            <a:ext cx="825322" cy="1709928"/>
          </a:xfrm>
          <a:prstGeom prst="rect">
            <a:avLst/>
          </a:prstGeom>
        </p:spPr>
      </p:pic>
      <p:sp>
        <p:nvSpPr>
          <p:cNvPr id="11" name="TextBox 10"/>
          <p:cNvSpPr txBox="1"/>
          <p:nvPr/>
        </p:nvSpPr>
        <p:spPr>
          <a:xfrm>
            <a:off x="566928" y="3566159"/>
            <a:ext cx="11057839" cy="237744"/>
          </a:xfrm>
          <a:prstGeom prst="rect">
            <a:avLst/>
          </a:prstGeom>
          <a:noFill/>
        </p:spPr>
        <p:txBody>
          <a:bodyPr wrap="square" anchor="t" lIns="0" rIns="0" tIns="0" bIns="0">
            <a:spAutoFit/>
          </a:bodyPr>
          <a:lstStyle/>
          <a:p>
            <a:pPr algn="ctr">
              <a:lnSpc>
                <a:spcPct val="95000"/>
              </a:lnSpc>
              <a:spcBef>
                <a:spcPts val="0"/>
              </a:spcBef>
              <a:spcAft>
                <a:spcPts val="0"/>
              </a:spcAft>
            </a:pPr>
            <a:r>
              <a:rPr sz="1000" b="0" i="1">
                <a:solidFill>
                  <a:srgbClr val="505A6B"/>
                </a:solidFill>
                <a:latin typeface="Calibri"/>
              </a:rPr>
              <a:t>Ciclo de la tutoría</a:t>
            </a:r>
          </a:p>
        </p:txBody>
      </p:sp>
      <p:sp>
        <p:nvSpPr>
          <p:cNvPr id="12" name="Rectangle 11"/>
          <p:cNvSpPr/>
          <p:nvPr/>
        </p:nvSpPr>
        <p:spPr>
          <a:xfrm>
            <a:off x="566928" y="3822191"/>
            <a:ext cx="11057839" cy="25603"/>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566928" y="3886200"/>
            <a:ext cx="11057839" cy="237744"/>
          </a:xfrm>
          <a:prstGeom prst="rect">
            <a:avLst/>
          </a:prstGeom>
          <a:noFill/>
        </p:spPr>
        <p:txBody>
          <a:bodyPr wrap="square" anchor="t" lIns="0" rIns="0" tIns="0" bIns="0">
            <a:spAutoFit/>
          </a:bodyPr>
          <a:lstStyle/>
          <a:p>
            <a:pPr algn="l">
              <a:lnSpc>
                <a:spcPct val="95000"/>
              </a:lnSpc>
              <a:spcBef>
                <a:spcPts val="0"/>
              </a:spcBef>
              <a:spcAft>
                <a:spcPts val="0"/>
              </a:spcAft>
            </a:pPr>
            <a:r>
              <a:rPr sz="1150" b="1" i="0">
                <a:solidFill>
                  <a:srgbClr val="142D5A"/>
                </a:solidFill>
                <a:latin typeface="Calibri"/>
              </a:rPr>
              <a:t>CICLO DE LA DECLARACIÓN</a:t>
            </a:r>
          </a:p>
        </p:txBody>
      </p:sp>
      <p:pic>
        <p:nvPicPr>
          <p:cNvPr id="14" name="Picture 13" descr="Presentacion_Defensa_02.png"/>
          <p:cNvPicPr>
            <a:picLocks noChangeAspect="1"/>
          </p:cNvPicPr>
          <p:nvPr/>
        </p:nvPicPr>
        <p:blipFill>
          <a:blip r:embed="rId3"/>
          <a:stretch>
            <a:fillRect/>
          </a:stretch>
        </p:blipFill>
        <p:spPr>
          <a:xfrm>
            <a:off x="5531222" y="4151376"/>
            <a:ext cx="1129250" cy="1664207"/>
          </a:xfrm>
          <a:prstGeom prst="rect">
            <a:avLst/>
          </a:prstGeom>
        </p:spPr>
      </p:pic>
      <p:sp>
        <p:nvSpPr>
          <p:cNvPr id="15" name="TextBox 14"/>
          <p:cNvSpPr txBox="1"/>
          <p:nvPr/>
        </p:nvSpPr>
        <p:spPr>
          <a:xfrm>
            <a:off x="566928" y="5861303"/>
            <a:ext cx="11057839" cy="237744"/>
          </a:xfrm>
          <a:prstGeom prst="rect">
            <a:avLst/>
          </a:prstGeom>
          <a:noFill/>
        </p:spPr>
        <p:txBody>
          <a:bodyPr wrap="square" anchor="t" lIns="0" rIns="0" tIns="0" bIns="0">
            <a:spAutoFit/>
          </a:bodyPr>
          <a:lstStyle/>
          <a:p>
            <a:pPr algn="ctr">
              <a:lnSpc>
                <a:spcPct val="95000"/>
              </a:lnSpc>
              <a:spcBef>
                <a:spcPts val="0"/>
              </a:spcBef>
              <a:spcAft>
                <a:spcPts val="0"/>
              </a:spcAft>
            </a:pPr>
            <a:r>
              <a:rPr sz="1000" b="0" i="1">
                <a:solidFill>
                  <a:srgbClr val="505A6B"/>
                </a:solidFill>
                <a:latin typeface="Calibri"/>
              </a:rPr>
              <a:t>Ciclo de la declaración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42D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146304"/>
            <a:ext cx="12191695" cy="3200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66928" y="384048"/>
            <a:ext cx="11057839" cy="566928"/>
          </a:xfrm>
          <a:prstGeom prst="rect">
            <a:avLst/>
          </a:prstGeom>
          <a:noFill/>
        </p:spPr>
        <p:txBody>
          <a:bodyPr wrap="square" anchor="t" lIns="0" rIns="0" tIns="0" bIns="0">
            <a:spAutoFit/>
          </a:bodyPr>
          <a:lstStyle/>
          <a:p>
            <a:pPr algn="l">
              <a:lnSpc>
                <a:spcPct val="90000"/>
              </a:lnSpc>
              <a:spcBef>
                <a:spcPts val="0"/>
              </a:spcBef>
              <a:spcAft>
                <a:spcPts val="0"/>
              </a:spcAft>
            </a:pPr>
            <a:r>
              <a:rPr sz="2700" b="1" i="0">
                <a:solidFill>
                  <a:srgbClr val="142D5A"/>
                </a:solidFill>
                <a:latin typeface="Calibri"/>
              </a:rPr>
              <a:t>Seguridad</a:t>
            </a:r>
          </a:p>
        </p:txBody>
      </p:sp>
      <p:sp>
        <p:nvSpPr>
          <p:cNvPr id="5" name="Rectangle 4"/>
          <p:cNvSpPr/>
          <p:nvPr/>
        </p:nvSpPr>
        <p:spPr>
          <a:xfrm>
            <a:off x="566928" y="1115568"/>
            <a:ext cx="11057839" cy="20116"/>
          </a:xfrm>
          <a:prstGeom prst="rect">
            <a:avLst/>
          </a:prstGeom>
          <a:solidFill>
            <a:srgbClr val="C6D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6382512"/>
            <a:ext cx="10600639" cy="274320"/>
          </a:xfrm>
          <a:prstGeom prst="rect">
            <a:avLst/>
          </a:prstGeom>
          <a:noFill/>
        </p:spPr>
        <p:txBody>
          <a:bodyPr wrap="square" anchor="t" lIns="0" rIns="0" tIns="0" bIns="0">
            <a:spAutoFit/>
          </a:bodyPr>
          <a:lstStyle/>
          <a:p>
            <a:pPr algn="l">
              <a:lnSpc>
                <a:spcPct val="95000"/>
              </a:lnSpc>
              <a:spcBef>
                <a:spcPts val="0"/>
              </a:spcBef>
              <a:spcAft>
                <a:spcPts val="0"/>
              </a:spcAft>
            </a:pPr>
            <a:r>
              <a:rPr sz="850" b="0" i="0">
                <a:solidFill>
                  <a:srgbClr val="505A6B"/>
                </a:solidFill>
                <a:latin typeface="Calibri"/>
              </a:rPr>
              <a:t>UNIVERSIDAD PRIVADA DOMINGO SAVIO  ·  Sistema de Tutorias y Modalidades de Grado  ·  Grupo 7</a:t>
            </a:r>
          </a:p>
        </p:txBody>
      </p:sp>
      <p:sp>
        <p:nvSpPr>
          <p:cNvPr id="7" name="TextBox 6"/>
          <p:cNvSpPr txBox="1"/>
          <p:nvPr/>
        </p:nvSpPr>
        <p:spPr>
          <a:xfrm>
            <a:off x="11121847" y="6382512"/>
            <a:ext cx="502920" cy="274320"/>
          </a:xfrm>
          <a:prstGeom prst="rect">
            <a:avLst/>
          </a:prstGeom>
          <a:noFill/>
        </p:spPr>
        <p:txBody>
          <a:bodyPr wrap="square" anchor="t" lIns="0" rIns="0" tIns="0" bIns="0">
            <a:spAutoFit/>
          </a:bodyPr>
          <a:lstStyle/>
          <a:p>
            <a:pPr algn="r">
              <a:lnSpc>
                <a:spcPct val="95000"/>
              </a:lnSpc>
              <a:spcBef>
                <a:spcPts val="0"/>
              </a:spcBef>
              <a:spcAft>
                <a:spcPts val="0"/>
              </a:spcAft>
            </a:pPr>
            <a:r>
              <a:rPr sz="950" b="1" i="0">
                <a:solidFill>
                  <a:srgbClr val="142D5A"/>
                </a:solidFill>
                <a:latin typeface="Calibri"/>
              </a:rPr>
              <a:t>10 / 15</a:t>
            </a:r>
          </a:p>
        </p:txBody>
      </p:sp>
      <p:pic>
        <p:nvPicPr>
          <p:cNvPr id="8" name="Picture 7" descr="Presentacion_Defensa_01.png"/>
          <p:cNvPicPr>
            <a:picLocks noChangeAspect="1"/>
          </p:cNvPicPr>
          <p:nvPr/>
        </p:nvPicPr>
        <p:blipFill>
          <a:blip r:embed="rId2"/>
          <a:stretch>
            <a:fillRect/>
          </a:stretch>
        </p:blipFill>
        <p:spPr>
          <a:xfrm>
            <a:off x="5834072" y="1481328"/>
            <a:ext cx="523549" cy="1084706"/>
          </a:xfrm>
          <a:prstGeom prst="rect">
            <a:avLst/>
          </a:prstGeom>
        </p:spPr>
      </p:pic>
      <p:sp>
        <p:nvSpPr>
          <p:cNvPr id="9" name="Rectangle 8"/>
          <p:cNvSpPr/>
          <p:nvPr/>
        </p:nvSpPr>
        <p:spPr>
          <a:xfrm>
            <a:off x="566928" y="2611754"/>
            <a:ext cx="11057839" cy="25603"/>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66928" y="2675762"/>
            <a:ext cx="11057839" cy="237744"/>
          </a:xfrm>
          <a:prstGeom prst="rect">
            <a:avLst/>
          </a:prstGeom>
          <a:noFill/>
        </p:spPr>
        <p:txBody>
          <a:bodyPr wrap="square" anchor="t" lIns="0" rIns="0" tIns="0" bIns="0">
            <a:spAutoFit/>
          </a:bodyPr>
          <a:lstStyle/>
          <a:p>
            <a:pPr algn="l">
              <a:lnSpc>
                <a:spcPct val="95000"/>
              </a:lnSpc>
              <a:spcBef>
                <a:spcPts val="0"/>
              </a:spcBef>
              <a:spcAft>
                <a:spcPts val="0"/>
              </a:spcAft>
            </a:pPr>
            <a:r>
              <a:rPr sz="1150" b="1" i="0">
                <a:solidFill>
                  <a:srgbClr val="142D5A"/>
                </a:solidFill>
                <a:latin typeface="Calibri"/>
              </a:rPr>
              <a:t>AMENAZAS CUBIERTAS</a:t>
            </a:r>
          </a:p>
        </p:txBody>
      </p:sp>
      <p:graphicFrame>
        <p:nvGraphicFramePr>
          <p:cNvPr id="11" name="Table 10"/>
          <p:cNvGraphicFramePr>
            <a:graphicFrameLocks noGrp="1"/>
          </p:cNvGraphicFramePr>
          <p:nvPr/>
        </p:nvGraphicFramePr>
        <p:xfrm>
          <a:off x="566928" y="2940938"/>
          <a:ext cx="11057838" cy="2993517"/>
        </p:xfrm>
        <a:graphic>
          <a:graphicData uri="http://schemas.openxmlformats.org/drawingml/2006/table">
            <a:tbl>
              <a:tblPr firstRow="1">
                <a:tableStyleId>{5C22544A-7EE6-4342-B048-85BDC9FD1C3A}</a:tableStyleId>
              </a:tblPr>
              <a:tblGrid>
                <a:gridCol w="3642582"/>
                <a:gridCol w="7415256"/>
              </a:tblGrid>
              <a:tr h="332613">
                <a:tc>
                  <a:txBody>
                    <a:bodyPr/>
                    <a:lstStyle/>
                    <a:p>
                      <a:pPr algn="ctr">
                        <a:lnSpc>
                          <a:spcPct val="92000"/>
                        </a:lnSpc>
                      </a:pPr>
                      <a:r>
                        <a:rPr sz="1300" b="1">
                          <a:solidFill>
                            <a:srgbClr val="FFFFFF"/>
                          </a:solidFill>
                          <a:latin typeface="Calibri"/>
                        </a:rPr>
                        <a:t>Amenaza</a:t>
                      </a:r>
                    </a:p>
                  </a:txBody>
                  <a:tcPr marL="64008" marR="64008" marT="18288" marB="18288" anchor="ctr">
                    <a:solidFill>
                      <a:srgbClr val="142D5A"/>
                    </a:solidFill>
                  </a:tcPr>
                </a:tc>
                <a:tc>
                  <a:txBody>
                    <a:bodyPr/>
                    <a:lstStyle/>
                    <a:p>
                      <a:pPr algn="ctr">
                        <a:lnSpc>
                          <a:spcPct val="92000"/>
                        </a:lnSpc>
                      </a:pPr>
                      <a:r>
                        <a:rPr sz="1300" b="1">
                          <a:solidFill>
                            <a:srgbClr val="FFFFFF"/>
                          </a:solidFill>
                          <a:latin typeface="Calibri"/>
                        </a:rPr>
                        <a:t>Control</a:t>
                      </a:r>
                    </a:p>
                  </a:txBody>
                  <a:tcPr marL="64008" marR="64008" marT="18288" marB="18288" anchor="ctr">
                    <a:solidFill>
                      <a:srgbClr val="142D5A"/>
                    </a:solidFill>
                  </a:tcPr>
                </a:tc>
              </a:tr>
              <a:tr h="332613">
                <a:tc>
                  <a:txBody>
                    <a:bodyPr/>
                    <a:lstStyle/>
                    <a:p>
                      <a:pPr algn="ctr">
                        <a:lnSpc>
                          <a:spcPct val="92000"/>
                        </a:lnSpc>
                      </a:pPr>
                      <a:r>
                        <a:rPr sz="1300" b="1">
                          <a:solidFill>
                            <a:srgbClr val="142D5A"/>
                          </a:solidFill>
                          <a:latin typeface="Calibri"/>
                        </a:rPr>
                        <a:t>Inyección SQL</a:t>
                      </a:r>
                    </a:p>
                  </a:txBody>
                  <a:tcPr marL="64008" marR="64008" marT="18288" marB="18288" anchor="ctr">
                    <a:solidFill>
                      <a:srgbClr val="FFFFFF"/>
                    </a:solidFill>
                  </a:tcPr>
                </a:tc>
                <a:tc>
                  <a:txBody>
                    <a:bodyPr/>
                    <a:lstStyle/>
                    <a:p>
                      <a:pPr algn="l">
                        <a:lnSpc>
                          <a:spcPct val="92000"/>
                        </a:lnSpc>
                      </a:pPr>
                      <a:r>
                        <a:rPr sz="1300" b="0">
                          <a:solidFill>
                            <a:srgbClr val="202020"/>
                          </a:solidFill>
                          <a:latin typeface="Calibri"/>
                        </a:rPr>
                        <a:t>Consultas preparadas al 100%.</a:t>
                      </a:r>
                    </a:p>
                  </a:txBody>
                  <a:tcPr marL="64008" marR="64008" marT="18288" marB="18288" anchor="ctr">
                    <a:solidFill>
                      <a:srgbClr val="FFFFFF"/>
                    </a:solidFill>
                  </a:tcPr>
                </a:tc>
              </a:tr>
              <a:tr h="332613">
                <a:tc>
                  <a:txBody>
                    <a:bodyPr/>
                    <a:lstStyle/>
                    <a:p>
                      <a:pPr algn="ctr">
                        <a:lnSpc>
                          <a:spcPct val="92000"/>
                        </a:lnSpc>
                      </a:pPr>
                      <a:r>
                        <a:rPr sz="1300" b="1">
                          <a:solidFill>
                            <a:srgbClr val="142D5A"/>
                          </a:solidFill>
                          <a:latin typeface="Calibri"/>
                        </a:rPr>
                        <a:t>XSS</a:t>
                      </a:r>
                    </a:p>
                  </a:txBody>
                  <a:tcPr marL="64008" marR="64008" marT="18288" marB="18288" anchor="ctr">
                    <a:solidFill>
                      <a:srgbClr val="F2F5F9"/>
                    </a:solidFill>
                  </a:tcPr>
                </a:tc>
                <a:tc>
                  <a:txBody>
                    <a:bodyPr/>
                    <a:lstStyle/>
                    <a:p>
                      <a:pPr algn="l">
                        <a:lnSpc>
                          <a:spcPct val="92000"/>
                        </a:lnSpc>
                      </a:pPr>
                      <a:r>
                        <a:rPr sz="1300" b="0">
                          <a:solidFill>
                            <a:srgbClr val="202020"/>
                          </a:solidFill>
                          <a:latin typeface="Calibri"/>
                        </a:rPr>
                        <a:t>Escape de toda salida dinámica.</a:t>
                      </a:r>
                    </a:p>
                  </a:txBody>
                  <a:tcPr marL="64008" marR="64008" marT="18288" marB="18288" anchor="ctr">
                    <a:solidFill>
                      <a:srgbClr val="F2F5F9"/>
                    </a:solidFill>
                  </a:tcPr>
                </a:tc>
              </a:tr>
              <a:tr h="332613">
                <a:tc>
                  <a:txBody>
                    <a:bodyPr/>
                    <a:lstStyle/>
                    <a:p>
                      <a:pPr algn="ctr">
                        <a:lnSpc>
                          <a:spcPct val="92000"/>
                        </a:lnSpc>
                      </a:pPr>
                      <a:r>
                        <a:rPr sz="1300" b="1">
                          <a:solidFill>
                            <a:srgbClr val="142D5A"/>
                          </a:solidFill>
                          <a:latin typeface="Calibri"/>
                        </a:rPr>
                        <a:t>CSRF</a:t>
                      </a:r>
                    </a:p>
                  </a:txBody>
                  <a:tcPr marL="64008" marR="64008" marT="18288" marB="18288" anchor="ctr">
                    <a:solidFill>
                      <a:srgbClr val="FFFFFF"/>
                    </a:solidFill>
                  </a:tcPr>
                </a:tc>
                <a:tc>
                  <a:txBody>
                    <a:bodyPr/>
                    <a:lstStyle/>
                    <a:p>
                      <a:pPr algn="l">
                        <a:lnSpc>
                          <a:spcPct val="92000"/>
                        </a:lnSpc>
                      </a:pPr>
                      <a:r>
                        <a:rPr sz="1300" b="0">
                          <a:solidFill>
                            <a:srgbClr val="202020"/>
                          </a:solidFill>
                          <a:latin typeface="Calibri"/>
                        </a:rPr>
                        <a:t>Token por sesión con comparación en tiempo constante.</a:t>
                      </a:r>
                    </a:p>
                  </a:txBody>
                  <a:tcPr marL="64008" marR="64008" marT="18288" marB="18288" anchor="ctr">
                    <a:solidFill>
                      <a:srgbClr val="FFFFFF"/>
                    </a:solidFill>
                  </a:tcPr>
                </a:tc>
              </a:tr>
              <a:tr h="332613">
                <a:tc>
                  <a:txBody>
                    <a:bodyPr/>
                    <a:lstStyle/>
                    <a:p>
                      <a:pPr algn="ctr">
                        <a:lnSpc>
                          <a:spcPct val="92000"/>
                        </a:lnSpc>
                      </a:pPr>
                      <a:r>
                        <a:rPr sz="1300" b="1">
                          <a:solidFill>
                            <a:srgbClr val="142D5A"/>
                          </a:solidFill>
                          <a:latin typeface="Calibri"/>
                        </a:rPr>
                        <a:t>Fuerza bruta</a:t>
                      </a:r>
                    </a:p>
                  </a:txBody>
                  <a:tcPr marL="64008" marR="64008" marT="18288" marB="18288" anchor="ctr">
                    <a:solidFill>
                      <a:srgbClr val="F2F5F9"/>
                    </a:solidFill>
                  </a:tcPr>
                </a:tc>
                <a:tc>
                  <a:txBody>
                    <a:bodyPr/>
                    <a:lstStyle/>
                    <a:p>
                      <a:pPr algn="l">
                        <a:lnSpc>
                          <a:spcPct val="92000"/>
                        </a:lnSpc>
                      </a:pPr>
                      <a:r>
                        <a:rPr sz="1300" b="0">
                          <a:solidFill>
                            <a:srgbClr val="202020"/>
                          </a:solidFill>
                          <a:latin typeface="Calibri"/>
                        </a:rPr>
                        <a:t>10 intentos fallidos por IP cada 15 minutos.</a:t>
                      </a:r>
                    </a:p>
                  </a:txBody>
                  <a:tcPr marL="64008" marR="64008" marT="18288" marB="18288" anchor="ctr">
                    <a:solidFill>
                      <a:srgbClr val="F2F5F9"/>
                    </a:solidFill>
                  </a:tcPr>
                </a:tc>
              </a:tr>
              <a:tr h="332613">
                <a:tc>
                  <a:txBody>
                    <a:bodyPr/>
                    <a:lstStyle/>
                    <a:p>
                      <a:pPr algn="ctr">
                        <a:lnSpc>
                          <a:spcPct val="92000"/>
                        </a:lnSpc>
                      </a:pPr>
                      <a:r>
                        <a:rPr sz="1300" b="1">
                          <a:solidFill>
                            <a:srgbClr val="142D5A"/>
                          </a:solidFill>
                          <a:latin typeface="Calibri"/>
                        </a:rPr>
                        <a:t>Robo de credenciales</a:t>
                      </a:r>
                    </a:p>
                  </a:txBody>
                  <a:tcPr marL="64008" marR="64008" marT="18288" marB="18288" anchor="ctr">
                    <a:solidFill>
                      <a:srgbClr val="FFFFFF"/>
                    </a:solidFill>
                  </a:tcPr>
                </a:tc>
                <a:tc>
                  <a:txBody>
                    <a:bodyPr/>
                    <a:lstStyle/>
                    <a:p>
                      <a:pPr algn="l">
                        <a:lnSpc>
                          <a:spcPct val="92000"/>
                        </a:lnSpc>
                      </a:pPr>
                      <a:r>
                        <a:rPr sz="1300" b="0">
                          <a:solidFill>
                            <a:srgbClr val="202020"/>
                          </a:solidFill>
                          <a:latin typeface="Calibri"/>
                        </a:rPr>
                        <a:t>bcrypt + mensajes genéricos.</a:t>
                      </a:r>
                    </a:p>
                  </a:txBody>
                  <a:tcPr marL="64008" marR="64008" marT="18288" marB="18288" anchor="ctr">
                    <a:solidFill>
                      <a:srgbClr val="FFFFFF"/>
                    </a:solidFill>
                  </a:tcPr>
                </a:tc>
              </a:tr>
              <a:tr h="332613">
                <a:tc>
                  <a:txBody>
                    <a:bodyPr/>
                    <a:lstStyle/>
                    <a:p>
                      <a:pPr algn="ctr">
                        <a:lnSpc>
                          <a:spcPct val="92000"/>
                        </a:lnSpc>
                      </a:pPr>
                      <a:r>
                        <a:rPr sz="1300" b="1">
                          <a:solidFill>
                            <a:srgbClr val="142D5A"/>
                          </a:solidFill>
                          <a:latin typeface="Calibri"/>
                        </a:rPr>
                        <a:t>Acceso no autorizado</a:t>
                      </a:r>
                    </a:p>
                  </a:txBody>
                  <a:tcPr marL="64008" marR="64008" marT="18288" marB="18288" anchor="ctr">
                    <a:solidFill>
                      <a:srgbClr val="F2F5F9"/>
                    </a:solidFill>
                  </a:tcPr>
                </a:tc>
                <a:tc>
                  <a:txBody>
                    <a:bodyPr/>
                    <a:lstStyle/>
                    <a:p>
                      <a:pPr algn="l">
                        <a:lnSpc>
                          <a:spcPct val="92000"/>
                        </a:lnSpc>
                      </a:pPr>
                      <a:r>
                        <a:rPr sz="1300" b="0">
                          <a:solidFill>
                            <a:srgbClr val="202020"/>
                          </a:solidFill>
                          <a:latin typeface="Calibri"/>
                        </a:rPr>
                        <a:t>Matriz de permisos + verificación de propiedad.</a:t>
                      </a:r>
                    </a:p>
                  </a:txBody>
                  <a:tcPr marL="64008" marR="64008" marT="18288" marB="18288" anchor="ctr">
                    <a:solidFill>
                      <a:srgbClr val="F2F5F9"/>
                    </a:solidFill>
                  </a:tcPr>
                </a:tc>
              </a:tr>
              <a:tr h="332613">
                <a:tc>
                  <a:txBody>
                    <a:bodyPr/>
                    <a:lstStyle/>
                    <a:p>
                      <a:pPr algn="ctr">
                        <a:lnSpc>
                          <a:spcPct val="92000"/>
                        </a:lnSpc>
                      </a:pPr>
                      <a:r>
                        <a:rPr sz="1300" b="1">
                          <a:solidFill>
                            <a:srgbClr val="142D5A"/>
                          </a:solidFill>
                          <a:latin typeface="Calibri"/>
                        </a:rPr>
                        <a:t>Fijación de sesión</a:t>
                      </a:r>
                    </a:p>
                  </a:txBody>
                  <a:tcPr marL="64008" marR="64008" marT="18288" marB="18288" anchor="ctr">
                    <a:solidFill>
                      <a:srgbClr val="FFFFFF"/>
                    </a:solidFill>
                  </a:tcPr>
                </a:tc>
                <a:tc>
                  <a:txBody>
                    <a:bodyPr/>
                    <a:lstStyle/>
                    <a:p>
                      <a:pPr algn="l">
                        <a:lnSpc>
                          <a:spcPct val="92000"/>
                        </a:lnSpc>
                      </a:pPr>
                      <a:r>
                        <a:rPr sz="1300" b="0">
                          <a:solidFill>
                            <a:srgbClr val="202020"/>
                          </a:solidFill>
                          <a:latin typeface="Calibri"/>
                        </a:rPr>
                        <a:t>Regeneración del identificador tras autenticar.</a:t>
                      </a:r>
                    </a:p>
                  </a:txBody>
                  <a:tcPr marL="64008" marR="64008" marT="18288" marB="18288" anchor="ctr">
                    <a:solidFill>
                      <a:srgbClr val="FFFFFF"/>
                    </a:solidFill>
                  </a:tcPr>
                </a:tc>
              </a:tr>
              <a:tr h="332613">
                <a:tc>
                  <a:txBody>
                    <a:bodyPr/>
                    <a:lstStyle/>
                    <a:p>
                      <a:pPr algn="ctr">
                        <a:lnSpc>
                          <a:spcPct val="92000"/>
                        </a:lnSpc>
                      </a:pPr>
                      <a:r>
                        <a:rPr sz="1300" b="1">
                          <a:solidFill>
                            <a:srgbClr val="142D5A"/>
                          </a:solidFill>
                          <a:latin typeface="Calibri"/>
                        </a:rPr>
                        <a:t>Manipulación de archivos</a:t>
                      </a:r>
                    </a:p>
                  </a:txBody>
                  <a:tcPr marL="64008" marR="64008" marT="18288" marB="18288" anchor="ctr">
                    <a:solidFill>
                      <a:srgbClr val="F2F5F9"/>
                    </a:solidFill>
                  </a:tcPr>
                </a:tc>
                <a:tc>
                  <a:txBody>
                    <a:bodyPr/>
                    <a:lstStyle/>
                    <a:p>
                      <a:pPr algn="l">
                        <a:lnSpc>
                          <a:spcPct val="92000"/>
                        </a:lnSpc>
                      </a:pPr>
                      <a:r>
                        <a:rPr sz="1300" b="0">
                          <a:solidFill>
                            <a:srgbClr val="202020"/>
                          </a:solidFill>
                          <a:latin typeface="Calibri"/>
                        </a:rPr>
                        <a:t>Validación de tipo, tamaño y nombre generado.</a:t>
                      </a:r>
                    </a:p>
                  </a:txBody>
                  <a:tcPr marL="64008" marR="64008" marT="18288" marB="18288" anchor="ctr">
                    <a:solidFill>
                      <a:srgbClr val="F2F5F9"/>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42D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146304"/>
            <a:ext cx="12191695" cy="3200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66928" y="384048"/>
            <a:ext cx="11057839" cy="566928"/>
          </a:xfrm>
          <a:prstGeom prst="rect">
            <a:avLst/>
          </a:prstGeom>
          <a:noFill/>
        </p:spPr>
        <p:txBody>
          <a:bodyPr wrap="square" anchor="t" lIns="0" rIns="0" tIns="0" bIns="0">
            <a:spAutoFit/>
          </a:bodyPr>
          <a:lstStyle/>
          <a:p>
            <a:pPr algn="l">
              <a:lnSpc>
                <a:spcPct val="90000"/>
              </a:lnSpc>
              <a:spcBef>
                <a:spcPts val="0"/>
              </a:spcBef>
              <a:spcAft>
                <a:spcPts val="0"/>
              </a:spcAft>
            </a:pPr>
            <a:r>
              <a:rPr sz="2700" b="1" i="0">
                <a:solidFill>
                  <a:srgbClr val="142D5A"/>
                </a:solidFill>
                <a:latin typeface="Calibri"/>
              </a:rPr>
              <a:t>Tecnologías utilizadas</a:t>
            </a:r>
          </a:p>
        </p:txBody>
      </p:sp>
      <p:sp>
        <p:nvSpPr>
          <p:cNvPr id="5" name="Rectangle 4"/>
          <p:cNvSpPr/>
          <p:nvPr/>
        </p:nvSpPr>
        <p:spPr>
          <a:xfrm>
            <a:off x="566928" y="1115568"/>
            <a:ext cx="11057839" cy="20116"/>
          </a:xfrm>
          <a:prstGeom prst="rect">
            <a:avLst/>
          </a:prstGeom>
          <a:solidFill>
            <a:srgbClr val="C6D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6382512"/>
            <a:ext cx="10600639" cy="274320"/>
          </a:xfrm>
          <a:prstGeom prst="rect">
            <a:avLst/>
          </a:prstGeom>
          <a:noFill/>
        </p:spPr>
        <p:txBody>
          <a:bodyPr wrap="square" anchor="t" lIns="0" rIns="0" tIns="0" bIns="0">
            <a:spAutoFit/>
          </a:bodyPr>
          <a:lstStyle/>
          <a:p>
            <a:pPr algn="l">
              <a:lnSpc>
                <a:spcPct val="95000"/>
              </a:lnSpc>
              <a:spcBef>
                <a:spcPts val="0"/>
              </a:spcBef>
              <a:spcAft>
                <a:spcPts val="0"/>
              </a:spcAft>
            </a:pPr>
            <a:r>
              <a:rPr sz="850" b="0" i="0">
                <a:solidFill>
                  <a:srgbClr val="505A6B"/>
                </a:solidFill>
                <a:latin typeface="Calibri"/>
              </a:rPr>
              <a:t>UNIVERSIDAD PRIVADA DOMINGO SAVIO  ·  Sistema de Tutorias y Modalidades de Grado  ·  Grupo 7</a:t>
            </a:r>
          </a:p>
        </p:txBody>
      </p:sp>
      <p:sp>
        <p:nvSpPr>
          <p:cNvPr id="7" name="TextBox 6"/>
          <p:cNvSpPr txBox="1"/>
          <p:nvPr/>
        </p:nvSpPr>
        <p:spPr>
          <a:xfrm>
            <a:off x="11121847" y="6382512"/>
            <a:ext cx="502920" cy="274320"/>
          </a:xfrm>
          <a:prstGeom prst="rect">
            <a:avLst/>
          </a:prstGeom>
          <a:noFill/>
        </p:spPr>
        <p:txBody>
          <a:bodyPr wrap="square" anchor="t" lIns="0" rIns="0" tIns="0" bIns="0">
            <a:spAutoFit/>
          </a:bodyPr>
          <a:lstStyle/>
          <a:p>
            <a:pPr algn="r">
              <a:lnSpc>
                <a:spcPct val="95000"/>
              </a:lnSpc>
              <a:spcBef>
                <a:spcPts val="0"/>
              </a:spcBef>
              <a:spcAft>
                <a:spcPts val="0"/>
              </a:spcAft>
            </a:pPr>
            <a:r>
              <a:rPr sz="950" b="1" i="0">
                <a:solidFill>
                  <a:srgbClr val="142D5A"/>
                </a:solidFill>
                <a:latin typeface="Calibri"/>
              </a:rPr>
              <a:t>11 / 15</a:t>
            </a:r>
          </a:p>
        </p:txBody>
      </p:sp>
      <p:graphicFrame>
        <p:nvGraphicFramePr>
          <p:cNvPr id="8" name="Table 7"/>
          <p:cNvGraphicFramePr>
            <a:graphicFrameLocks noGrp="1"/>
          </p:cNvGraphicFramePr>
          <p:nvPr/>
        </p:nvGraphicFramePr>
        <p:xfrm>
          <a:off x="566928" y="1481328"/>
          <a:ext cx="11057839" cy="3098095"/>
        </p:xfrm>
        <a:graphic>
          <a:graphicData uri="http://schemas.openxmlformats.org/drawingml/2006/table">
            <a:tbl>
              <a:tblPr firstRow="1">
                <a:tableStyleId>{5C22544A-7EE6-4342-B048-85BDC9FD1C3A}</a:tableStyleId>
              </a:tblPr>
              <a:tblGrid>
                <a:gridCol w="4253015"/>
                <a:gridCol w="3402412"/>
                <a:gridCol w="3402412"/>
              </a:tblGrid>
              <a:tr h="238315">
                <a:tc>
                  <a:txBody>
                    <a:bodyPr/>
                    <a:lstStyle/>
                    <a:p>
                      <a:pPr algn="ctr">
                        <a:lnSpc>
                          <a:spcPct val="92000"/>
                        </a:lnSpc>
                      </a:pPr>
                      <a:r>
                        <a:rPr sz="750" b="1">
                          <a:solidFill>
                            <a:srgbClr val="FFFFFF"/>
                          </a:solidFill>
                          <a:latin typeface="Calibri"/>
                        </a:rPr>
                        <a:t>Categoría</a:t>
                      </a:r>
                    </a:p>
                  </a:txBody>
                  <a:tcPr marL="64008" marR="64008" marT="18288" marB="18288" anchor="ctr">
                    <a:solidFill>
                      <a:srgbClr val="142D5A"/>
                    </a:solidFill>
                  </a:tcPr>
                </a:tc>
                <a:tc>
                  <a:txBody>
                    <a:bodyPr/>
                    <a:lstStyle/>
                    <a:p>
                      <a:pPr algn="ctr">
                        <a:lnSpc>
                          <a:spcPct val="92000"/>
                        </a:lnSpc>
                      </a:pPr>
                      <a:r>
                        <a:rPr sz="750" b="1">
                          <a:solidFill>
                            <a:srgbClr val="FFFFFF"/>
                          </a:solidFill>
                          <a:latin typeface="Calibri"/>
                        </a:rPr>
                        <a:t>Tecnología</a:t>
                      </a:r>
                    </a:p>
                  </a:txBody>
                  <a:tcPr marL="64008" marR="64008" marT="18288" marB="18288" anchor="ctr">
                    <a:solidFill>
                      <a:srgbClr val="142D5A"/>
                    </a:solidFill>
                  </a:tcPr>
                </a:tc>
                <a:tc>
                  <a:txBody>
                    <a:bodyPr/>
                    <a:lstStyle/>
                    <a:p>
                      <a:pPr algn="ctr">
                        <a:lnSpc>
                          <a:spcPct val="92000"/>
                        </a:lnSpc>
                      </a:pPr>
                      <a:r>
                        <a:rPr sz="750" b="1">
                          <a:solidFill>
                            <a:srgbClr val="FFFFFF"/>
                          </a:solidFill>
                          <a:latin typeface="Calibri"/>
                        </a:rPr>
                        <a:t>Versión</a:t>
                      </a:r>
                    </a:p>
                  </a:txBody>
                  <a:tcPr marL="64008" marR="64008" marT="18288" marB="18288" anchor="ctr">
                    <a:solidFill>
                      <a:srgbClr val="142D5A"/>
                    </a:solidFill>
                  </a:tcPr>
                </a:tc>
              </a:tr>
              <a:tr h="238315">
                <a:tc>
                  <a:txBody>
                    <a:bodyPr/>
                    <a:lstStyle/>
                    <a:p>
                      <a:pPr algn="ctr">
                        <a:lnSpc>
                          <a:spcPct val="92000"/>
                        </a:lnSpc>
                      </a:pPr>
                      <a:r>
                        <a:rPr sz="750" b="1">
                          <a:solidFill>
                            <a:srgbClr val="142D5A"/>
                          </a:solidFill>
                          <a:latin typeface="Calibri"/>
                        </a:rPr>
                        <a:t>Lenguaje del servidor</a:t>
                      </a:r>
                    </a:p>
                  </a:txBody>
                  <a:tcPr marL="64008" marR="64008" marT="18288" marB="18288" anchor="ctr">
                    <a:solidFill>
                      <a:srgbClr val="FFFFFF"/>
                    </a:solidFill>
                  </a:tcPr>
                </a:tc>
                <a:tc>
                  <a:txBody>
                    <a:bodyPr/>
                    <a:lstStyle/>
                    <a:p>
                      <a:pPr algn="l">
                        <a:lnSpc>
                          <a:spcPct val="92000"/>
                        </a:lnSpc>
                      </a:pPr>
                      <a:r>
                        <a:rPr sz="750" b="0">
                          <a:solidFill>
                            <a:srgbClr val="202020"/>
                          </a:solidFill>
                          <a:latin typeface="Calibri"/>
                        </a:rPr>
                        <a:t>PHP</a:t>
                      </a:r>
                    </a:p>
                  </a:txBody>
                  <a:tcPr marL="64008" marR="64008" marT="18288" marB="18288" anchor="ctr">
                    <a:solidFill>
                      <a:srgbClr val="FFFFFF"/>
                    </a:solidFill>
                  </a:tcPr>
                </a:tc>
                <a:tc>
                  <a:txBody>
                    <a:bodyPr/>
                    <a:lstStyle/>
                    <a:p>
                      <a:pPr algn="l">
                        <a:lnSpc>
                          <a:spcPct val="92000"/>
                        </a:lnSpc>
                      </a:pPr>
                      <a:r>
                        <a:rPr sz="750" b="0">
                          <a:solidFill>
                            <a:srgbClr val="202020"/>
                          </a:solidFill>
                          <a:latin typeface="Calibri"/>
                        </a:rPr>
                        <a:t>8.2</a:t>
                      </a:r>
                    </a:p>
                  </a:txBody>
                  <a:tcPr marL="64008" marR="64008" marT="18288" marB="18288" anchor="ctr">
                    <a:solidFill>
                      <a:srgbClr val="FFFFFF"/>
                    </a:solidFill>
                  </a:tcPr>
                </a:tc>
              </a:tr>
              <a:tr h="238315">
                <a:tc>
                  <a:txBody>
                    <a:bodyPr/>
                    <a:lstStyle/>
                    <a:p>
                      <a:pPr algn="ctr">
                        <a:lnSpc>
                          <a:spcPct val="92000"/>
                        </a:lnSpc>
                      </a:pPr>
                      <a:r>
                        <a:rPr sz="750" b="1">
                          <a:solidFill>
                            <a:srgbClr val="142D5A"/>
                          </a:solidFill>
                          <a:latin typeface="Calibri"/>
                        </a:rPr>
                        <a:t>Servidor web</a:t>
                      </a:r>
                    </a:p>
                  </a:txBody>
                  <a:tcPr marL="64008" marR="64008" marT="18288" marB="18288" anchor="ctr">
                    <a:solidFill>
                      <a:srgbClr val="F2F5F9"/>
                    </a:solidFill>
                  </a:tcPr>
                </a:tc>
                <a:tc>
                  <a:txBody>
                    <a:bodyPr/>
                    <a:lstStyle/>
                    <a:p>
                      <a:pPr algn="l">
                        <a:lnSpc>
                          <a:spcPct val="92000"/>
                        </a:lnSpc>
                      </a:pPr>
                      <a:r>
                        <a:rPr sz="750" b="0">
                          <a:solidFill>
                            <a:srgbClr val="202020"/>
                          </a:solidFill>
                          <a:latin typeface="Calibri"/>
                        </a:rPr>
                        <a:t>Apache</a:t>
                      </a:r>
                    </a:p>
                  </a:txBody>
                  <a:tcPr marL="64008" marR="64008" marT="18288" marB="18288" anchor="ctr">
                    <a:solidFill>
                      <a:srgbClr val="F2F5F9"/>
                    </a:solidFill>
                  </a:tcPr>
                </a:tc>
                <a:tc>
                  <a:txBody>
                    <a:bodyPr/>
                    <a:lstStyle/>
                    <a:p>
                      <a:pPr algn="l">
                        <a:lnSpc>
                          <a:spcPct val="92000"/>
                        </a:lnSpc>
                      </a:pPr>
                      <a:r>
                        <a:rPr sz="750" b="0">
                          <a:solidFill>
                            <a:srgbClr val="202020"/>
                          </a:solidFill>
                          <a:latin typeface="Calibri"/>
                        </a:rPr>
                        <a:t>2.4</a:t>
                      </a:r>
                    </a:p>
                  </a:txBody>
                  <a:tcPr marL="64008" marR="64008" marT="18288" marB="18288" anchor="ctr">
                    <a:solidFill>
                      <a:srgbClr val="F2F5F9"/>
                    </a:solidFill>
                  </a:tcPr>
                </a:tc>
              </a:tr>
              <a:tr h="238315">
                <a:tc>
                  <a:txBody>
                    <a:bodyPr/>
                    <a:lstStyle/>
                    <a:p>
                      <a:pPr algn="ctr">
                        <a:lnSpc>
                          <a:spcPct val="92000"/>
                        </a:lnSpc>
                      </a:pPr>
                      <a:r>
                        <a:rPr sz="750" b="1">
                          <a:solidFill>
                            <a:srgbClr val="142D5A"/>
                          </a:solidFill>
                          <a:latin typeface="Calibri"/>
                        </a:rPr>
                        <a:t>Base de datos</a:t>
                      </a:r>
                    </a:p>
                  </a:txBody>
                  <a:tcPr marL="64008" marR="64008" marT="18288" marB="18288" anchor="ctr">
                    <a:solidFill>
                      <a:srgbClr val="FFFFFF"/>
                    </a:solidFill>
                  </a:tcPr>
                </a:tc>
                <a:tc>
                  <a:txBody>
                    <a:bodyPr/>
                    <a:lstStyle/>
                    <a:p>
                      <a:pPr algn="l">
                        <a:lnSpc>
                          <a:spcPct val="92000"/>
                        </a:lnSpc>
                      </a:pPr>
                      <a:r>
                        <a:rPr sz="750" b="0">
                          <a:solidFill>
                            <a:srgbClr val="202020"/>
                          </a:solidFill>
                          <a:latin typeface="Calibri"/>
                        </a:rPr>
                        <a:t>MySQL</a:t>
                      </a:r>
                    </a:p>
                  </a:txBody>
                  <a:tcPr marL="64008" marR="64008" marT="18288" marB="18288" anchor="ctr">
                    <a:solidFill>
                      <a:srgbClr val="FFFFFF"/>
                    </a:solidFill>
                  </a:tcPr>
                </a:tc>
                <a:tc>
                  <a:txBody>
                    <a:bodyPr/>
                    <a:lstStyle/>
                    <a:p>
                      <a:pPr algn="l">
                        <a:lnSpc>
                          <a:spcPct val="92000"/>
                        </a:lnSpc>
                      </a:pPr>
                      <a:r>
                        <a:rPr sz="750" b="0">
                          <a:solidFill>
                            <a:srgbClr val="202020"/>
                          </a:solidFill>
                          <a:latin typeface="Calibri"/>
                        </a:rPr>
                        <a:t>8.0</a:t>
                      </a:r>
                    </a:p>
                  </a:txBody>
                  <a:tcPr marL="64008" marR="64008" marT="18288" marB="18288" anchor="ctr">
                    <a:solidFill>
                      <a:srgbClr val="FFFFFF"/>
                    </a:solidFill>
                  </a:tcPr>
                </a:tc>
              </a:tr>
              <a:tr h="238315">
                <a:tc>
                  <a:txBody>
                    <a:bodyPr/>
                    <a:lstStyle/>
                    <a:p>
                      <a:pPr algn="ctr">
                        <a:lnSpc>
                          <a:spcPct val="92000"/>
                        </a:lnSpc>
                      </a:pPr>
                      <a:r>
                        <a:rPr sz="750" b="1">
                          <a:solidFill>
                            <a:srgbClr val="142D5A"/>
                          </a:solidFill>
                          <a:latin typeface="Calibri"/>
                        </a:rPr>
                        <a:t>Acceso a datos</a:t>
                      </a:r>
                    </a:p>
                  </a:txBody>
                  <a:tcPr marL="64008" marR="64008" marT="18288" marB="18288" anchor="ctr">
                    <a:solidFill>
                      <a:srgbClr val="F2F5F9"/>
                    </a:solidFill>
                  </a:tcPr>
                </a:tc>
                <a:tc>
                  <a:txBody>
                    <a:bodyPr/>
                    <a:lstStyle/>
                    <a:p>
                      <a:pPr algn="l">
                        <a:lnSpc>
                          <a:spcPct val="92000"/>
                        </a:lnSpc>
                      </a:pPr>
                      <a:r>
                        <a:rPr sz="750" b="0">
                          <a:solidFill>
                            <a:srgbClr val="202020"/>
                          </a:solidFill>
                          <a:latin typeface="Calibri"/>
                        </a:rPr>
                        <a:t>PDO</a:t>
                      </a:r>
                    </a:p>
                  </a:txBody>
                  <a:tcPr marL="64008" marR="64008" marT="18288" marB="18288" anchor="ctr">
                    <a:solidFill>
                      <a:srgbClr val="F2F5F9"/>
                    </a:solidFill>
                  </a:tcPr>
                </a:tc>
                <a:tc>
                  <a:txBody>
                    <a:bodyPr/>
                    <a:lstStyle/>
                    <a:p>
                      <a:pPr algn="l">
                        <a:lnSpc>
                          <a:spcPct val="92000"/>
                        </a:lnSpc>
                      </a:pPr>
                      <a:r>
                        <a:rPr sz="750" b="0">
                          <a:solidFill>
                            <a:srgbClr val="202020"/>
                          </a:solidFill>
                          <a:latin typeface="Calibri"/>
                        </a:rPr>
                        <a:t>Extensión nativa</a:t>
                      </a:r>
                    </a:p>
                  </a:txBody>
                  <a:tcPr marL="64008" marR="64008" marT="18288" marB="18288" anchor="ctr">
                    <a:solidFill>
                      <a:srgbClr val="F2F5F9"/>
                    </a:solidFill>
                  </a:tcPr>
                </a:tc>
              </a:tr>
              <a:tr h="238315">
                <a:tc>
                  <a:txBody>
                    <a:bodyPr/>
                    <a:lstStyle/>
                    <a:p>
                      <a:pPr algn="ctr">
                        <a:lnSpc>
                          <a:spcPct val="92000"/>
                        </a:lnSpc>
                      </a:pPr>
                      <a:r>
                        <a:rPr sz="750" b="1">
                          <a:solidFill>
                            <a:srgbClr val="142D5A"/>
                          </a:solidFill>
                          <a:latin typeface="Calibri"/>
                        </a:rPr>
                        <a:t>Estructuración</a:t>
                      </a:r>
                    </a:p>
                  </a:txBody>
                  <a:tcPr marL="64008" marR="64008" marT="18288" marB="18288" anchor="ctr">
                    <a:solidFill>
                      <a:srgbClr val="FFFFFF"/>
                    </a:solidFill>
                  </a:tcPr>
                </a:tc>
                <a:tc>
                  <a:txBody>
                    <a:bodyPr/>
                    <a:lstStyle/>
                    <a:p>
                      <a:pPr algn="l">
                        <a:lnSpc>
                          <a:spcPct val="92000"/>
                        </a:lnSpc>
                      </a:pPr>
                      <a:r>
                        <a:rPr sz="750" b="0">
                          <a:solidFill>
                            <a:srgbClr val="202020"/>
                          </a:solidFill>
                          <a:latin typeface="Calibri"/>
                        </a:rPr>
                        <a:t>HTML5</a:t>
                      </a:r>
                    </a:p>
                  </a:txBody>
                  <a:tcPr marL="64008" marR="64008" marT="18288" marB="18288" anchor="ctr">
                    <a:solidFill>
                      <a:srgbClr val="FFFFFF"/>
                    </a:solidFill>
                  </a:tcPr>
                </a:tc>
                <a:tc>
                  <a:txBody>
                    <a:bodyPr/>
                    <a:lstStyle/>
                    <a:p>
                      <a:pPr algn="l">
                        <a:lnSpc>
                          <a:spcPct val="92000"/>
                        </a:lnSpc>
                      </a:pPr>
                      <a:r>
                        <a:rPr sz="750" b="0">
                          <a:solidFill>
                            <a:srgbClr val="202020"/>
                          </a:solidFill>
                          <a:latin typeface="Calibri"/>
                        </a:rPr>
                        <a:t>—</a:t>
                      </a:r>
                    </a:p>
                  </a:txBody>
                  <a:tcPr marL="64008" marR="64008" marT="18288" marB="18288" anchor="ctr">
                    <a:solidFill>
                      <a:srgbClr val="FFFFFF"/>
                    </a:solidFill>
                  </a:tcPr>
                </a:tc>
              </a:tr>
              <a:tr h="238315">
                <a:tc>
                  <a:txBody>
                    <a:bodyPr/>
                    <a:lstStyle/>
                    <a:p>
                      <a:pPr algn="ctr">
                        <a:lnSpc>
                          <a:spcPct val="92000"/>
                        </a:lnSpc>
                      </a:pPr>
                      <a:r>
                        <a:rPr sz="750" b="1">
                          <a:solidFill>
                            <a:srgbClr val="142D5A"/>
                          </a:solidFill>
                          <a:latin typeface="Calibri"/>
                        </a:rPr>
                        <a:t>Estilos</a:t>
                      </a:r>
                    </a:p>
                  </a:txBody>
                  <a:tcPr marL="64008" marR="64008" marT="18288" marB="18288" anchor="ctr">
                    <a:solidFill>
                      <a:srgbClr val="F2F5F9"/>
                    </a:solidFill>
                  </a:tcPr>
                </a:tc>
                <a:tc>
                  <a:txBody>
                    <a:bodyPr/>
                    <a:lstStyle/>
                    <a:p>
                      <a:pPr algn="l">
                        <a:lnSpc>
                          <a:spcPct val="92000"/>
                        </a:lnSpc>
                      </a:pPr>
                      <a:r>
                        <a:rPr sz="750" b="0">
                          <a:solidFill>
                            <a:srgbClr val="202020"/>
                          </a:solidFill>
                          <a:latin typeface="Calibri"/>
                        </a:rPr>
                        <a:t>CSS3</a:t>
                      </a:r>
                    </a:p>
                  </a:txBody>
                  <a:tcPr marL="64008" marR="64008" marT="18288" marB="18288" anchor="ctr">
                    <a:solidFill>
                      <a:srgbClr val="F2F5F9"/>
                    </a:solidFill>
                  </a:tcPr>
                </a:tc>
                <a:tc>
                  <a:txBody>
                    <a:bodyPr/>
                    <a:lstStyle/>
                    <a:p>
                      <a:pPr algn="l">
                        <a:lnSpc>
                          <a:spcPct val="92000"/>
                        </a:lnSpc>
                      </a:pPr>
                      <a:r>
                        <a:rPr sz="750" b="0">
                          <a:solidFill>
                            <a:srgbClr val="202020"/>
                          </a:solidFill>
                          <a:latin typeface="Calibri"/>
                        </a:rPr>
                        <a:t>—</a:t>
                      </a:r>
                    </a:p>
                  </a:txBody>
                  <a:tcPr marL="64008" marR="64008" marT="18288" marB="18288" anchor="ctr">
                    <a:solidFill>
                      <a:srgbClr val="F2F5F9"/>
                    </a:solidFill>
                  </a:tcPr>
                </a:tc>
              </a:tr>
              <a:tr h="238315">
                <a:tc>
                  <a:txBody>
                    <a:bodyPr/>
                    <a:lstStyle/>
                    <a:p>
                      <a:pPr algn="ctr">
                        <a:lnSpc>
                          <a:spcPct val="92000"/>
                        </a:lnSpc>
                      </a:pPr>
                      <a:r>
                        <a:rPr sz="750" b="1">
                          <a:solidFill>
                            <a:srgbClr val="142D5A"/>
                          </a:solidFill>
                          <a:latin typeface="Calibri"/>
                        </a:rPr>
                        <a:t>Lógica del cliente</a:t>
                      </a:r>
                    </a:p>
                  </a:txBody>
                  <a:tcPr marL="64008" marR="64008" marT="18288" marB="18288" anchor="ctr">
                    <a:solidFill>
                      <a:srgbClr val="FFFFFF"/>
                    </a:solidFill>
                  </a:tcPr>
                </a:tc>
                <a:tc>
                  <a:txBody>
                    <a:bodyPr/>
                    <a:lstStyle/>
                    <a:p>
                      <a:pPr algn="l">
                        <a:lnSpc>
                          <a:spcPct val="92000"/>
                        </a:lnSpc>
                      </a:pPr>
                      <a:r>
                        <a:rPr sz="750" b="0">
                          <a:solidFill>
                            <a:srgbClr val="202020"/>
                          </a:solidFill>
                          <a:latin typeface="Calibri"/>
                        </a:rPr>
                        <a:t>JavaScript</a:t>
                      </a:r>
                    </a:p>
                  </a:txBody>
                  <a:tcPr marL="64008" marR="64008" marT="18288" marB="18288" anchor="ctr">
                    <a:solidFill>
                      <a:srgbClr val="FFFFFF"/>
                    </a:solidFill>
                  </a:tcPr>
                </a:tc>
                <a:tc>
                  <a:txBody>
                    <a:bodyPr/>
                    <a:lstStyle/>
                    <a:p>
                      <a:pPr algn="l">
                        <a:lnSpc>
                          <a:spcPct val="92000"/>
                        </a:lnSpc>
                      </a:pPr>
                      <a:r>
                        <a:rPr sz="750" b="0">
                          <a:solidFill>
                            <a:srgbClr val="202020"/>
                          </a:solidFill>
                          <a:latin typeface="Calibri"/>
                        </a:rPr>
                        <a:t>ES6+</a:t>
                      </a:r>
                    </a:p>
                  </a:txBody>
                  <a:tcPr marL="64008" marR="64008" marT="18288" marB="18288" anchor="ctr">
                    <a:solidFill>
                      <a:srgbClr val="FFFFFF"/>
                    </a:solidFill>
                  </a:tcPr>
                </a:tc>
              </a:tr>
              <a:tr h="238315">
                <a:tc>
                  <a:txBody>
                    <a:bodyPr/>
                    <a:lstStyle/>
                    <a:p>
                      <a:pPr algn="ctr">
                        <a:lnSpc>
                          <a:spcPct val="92000"/>
                        </a:lnSpc>
                      </a:pPr>
                      <a:r>
                        <a:rPr sz="750" b="1">
                          <a:solidFill>
                            <a:srgbClr val="142D5A"/>
                          </a:solidFill>
                          <a:latin typeface="Calibri"/>
                        </a:rPr>
                        <a:t>Framework del cliente</a:t>
                      </a:r>
                    </a:p>
                  </a:txBody>
                  <a:tcPr marL="64008" marR="64008" marT="18288" marB="18288" anchor="ctr">
                    <a:solidFill>
                      <a:srgbClr val="F2F5F9"/>
                    </a:solidFill>
                  </a:tcPr>
                </a:tc>
                <a:tc>
                  <a:txBody>
                    <a:bodyPr/>
                    <a:lstStyle/>
                    <a:p>
                      <a:pPr algn="l">
                        <a:lnSpc>
                          <a:spcPct val="92000"/>
                        </a:lnSpc>
                      </a:pPr>
                      <a:r>
                        <a:rPr sz="750" b="0">
                          <a:solidFill>
                            <a:srgbClr val="202020"/>
                          </a:solidFill>
                          <a:latin typeface="Calibri"/>
                        </a:rPr>
                        <a:t>Vue.js</a:t>
                      </a:r>
                    </a:p>
                  </a:txBody>
                  <a:tcPr marL="64008" marR="64008" marT="18288" marB="18288" anchor="ctr">
                    <a:solidFill>
                      <a:srgbClr val="F2F5F9"/>
                    </a:solidFill>
                  </a:tcPr>
                </a:tc>
                <a:tc>
                  <a:txBody>
                    <a:bodyPr/>
                    <a:lstStyle/>
                    <a:p>
                      <a:pPr algn="l">
                        <a:lnSpc>
                          <a:spcPct val="92000"/>
                        </a:lnSpc>
                      </a:pPr>
                      <a:r>
                        <a:rPr sz="750" b="0">
                          <a:solidFill>
                            <a:srgbClr val="202020"/>
                          </a:solidFill>
                          <a:latin typeface="Calibri"/>
                        </a:rPr>
                        <a:t>3.x (CDN)</a:t>
                      </a:r>
                    </a:p>
                  </a:txBody>
                  <a:tcPr marL="64008" marR="64008" marT="18288" marB="18288" anchor="ctr">
                    <a:solidFill>
                      <a:srgbClr val="F2F5F9"/>
                    </a:solidFill>
                  </a:tcPr>
                </a:tc>
              </a:tr>
              <a:tr h="238315">
                <a:tc>
                  <a:txBody>
                    <a:bodyPr/>
                    <a:lstStyle/>
                    <a:p>
                      <a:pPr algn="ctr">
                        <a:lnSpc>
                          <a:spcPct val="92000"/>
                        </a:lnSpc>
                      </a:pPr>
                      <a:r>
                        <a:rPr sz="750" b="1">
                          <a:solidFill>
                            <a:srgbClr val="142D5A"/>
                          </a:solidFill>
                          <a:latin typeface="Calibri"/>
                        </a:rPr>
                        <a:t>Iconos</a:t>
                      </a:r>
                    </a:p>
                  </a:txBody>
                  <a:tcPr marL="64008" marR="64008" marT="18288" marB="18288" anchor="ctr">
                    <a:solidFill>
                      <a:srgbClr val="FFFFFF"/>
                    </a:solidFill>
                  </a:tcPr>
                </a:tc>
                <a:tc>
                  <a:txBody>
                    <a:bodyPr/>
                    <a:lstStyle/>
                    <a:p>
                      <a:pPr algn="l">
                        <a:lnSpc>
                          <a:spcPct val="92000"/>
                        </a:lnSpc>
                      </a:pPr>
                      <a:r>
                        <a:rPr sz="750" b="0">
                          <a:solidFill>
                            <a:srgbClr val="202020"/>
                          </a:solidFill>
                          <a:latin typeface="Calibri"/>
                        </a:rPr>
                        <a:t>Font Awesome</a:t>
                      </a:r>
                    </a:p>
                  </a:txBody>
                  <a:tcPr marL="64008" marR="64008" marT="18288" marB="18288" anchor="ctr">
                    <a:solidFill>
                      <a:srgbClr val="FFFFFF"/>
                    </a:solidFill>
                  </a:tcPr>
                </a:tc>
                <a:tc>
                  <a:txBody>
                    <a:bodyPr/>
                    <a:lstStyle/>
                    <a:p>
                      <a:pPr algn="l">
                        <a:lnSpc>
                          <a:spcPct val="92000"/>
                        </a:lnSpc>
                      </a:pPr>
                      <a:r>
                        <a:rPr sz="750" b="0">
                          <a:solidFill>
                            <a:srgbClr val="202020"/>
                          </a:solidFill>
                          <a:latin typeface="Calibri"/>
                        </a:rPr>
                        <a:t>6.x</a:t>
                      </a:r>
                    </a:p>
                  </a:txBody>
                  <a:tcPr marL="64008" marR="64008" marT="18288" marB="18288" anchor="ctr">
                    <a:solidFill>
                      <a:srgbClr val="FFFFFF"/>
                    </a:solidFill>
                  </a:tcPr>
                </a:tc>
              </a:tr>
              <a:tr h="238315">
                <a:tc>
                  <a:txBody>
                    <a:bodyPr/>
                    <a:lstStyle/>
                    <a:p>
                      <a:pPr algn="ctr">
                        <a:lnSpc>
                          <a:spcPct val="92000"/>
                        </a:lnSpc>
                      </a:pPr>
                      <a:r>
                        <a:rPr sz="750" b="1">
                          <a:solidFill>
                            <a:srgbClr val="142D5A"/>
                          </a:solidFill>
                          <a:latin typeface="Calibri"/>
                        </a:rPr>
                        <a:t>Contenedores</a:t>
                      </a:r>
                    </a:p>
                  </a:txBody>
                  <a:tcPr marL="64008" marR="64008" marT="18288" marB="18288" anchor="ctr">
                    <a:solidFill>
                      <a:srgbClr val="F2F5F9"/>
                    </a:solidFill>
                  </a:tcPr>
                </a:tc>
                <a:tc>
                  <a:txBody>
                    <a:bodyPr/>
                    <a:lstStyle/>
                    <a:p>
                      <a:pPr algn="l">
                        <a:lnSpc>
                          <a:spcPct val="92000"/>
                        </a:lnSpc>
                      </a:pPr>
                      <a:r>
                        <a:rPr sz="750" b="0">
                          <a:solidFill>
                            <a:srgbClr val="202020"/>
                          </a:solidFill>
                          <a:latin typeface="Calibri"/>
                        </a:rPr>
                        <a:t>Docker / Compose</a:t>
                      </a:r>
                    </a:p>
                  </a:txBody>
                  <a:tcPr marL="64008" marR="64008" marT="18288" marB="18288" anchor="ctr">
                    <a:solidFill>
                      <a:srgbClr val="F2F5F9"/>
                    </a:solidFill>
                  </a:tcPr>
                </a:tc>
                <a:tc>
                  <a:txBody>
                    <a:bodyPr/>
                    <a:lstStyle/>
                    <a:p>
                      <a:pPr algn="l">
                        <a:lnSpc>
                          <a:spcPct val="92000"/>
                        </a:lnSpc>
                      </a:pPr>
                      <a:r>
                        <a:rPr sz="750" b="0">
                          <a:solidFill>
                            <a:srgbClr val="202020"/>
                          </a:solidFill>
                          <a:latin typeface="Calibri"/>
                        </a:rPr>
                        <a:t>—</a:t>
                      </a:r>
                    </a:p>
                  </a:txBody>
                  <a:tcPr marL="64008" marR="64008" marT="18288" marB="18288" anchor="ctr">
                    <a:solidFill>
                      <a:srgbClr val="F2F5F9"/>
                    </a:solidFill>
                  </a:tcPr>
                </a:tc>
              </a:tr>
              <a:tr h="238315">
                <a:tc>
                  <a:txBody>
                    <a:bodyPr/>
                    <a:lstStyle/>
                    <a:p>
                      <a:pPr algn="ctr">
                        <a:lnSpc>
                          <a:spcPct val="92000"/>
                        </a:lnSpc>
                      </a:pPr>
                      <a:r>
                        <a:rPr sz="750" b="1">
                          <a:solidFill>
                            <a:srgbClr val="142D5A"/>
                          </a:solidFill>
                          <a:latin typeface="Calibri"/>
                        </a:rPr>
                        <a:t>Versionado del código</a:t>
                      </a:r>
                    </a:p>
                  </a:txBody>
                  <a:tcPr marL="64008" marR="64008" marT="18288" marB="18288" anchor="ctr">
                    <a:solidFill>
                      <a:srgbClr val="FFFFFF"/>
                    </a:solidFill>
                  </a:tcPr>
                </a:tc>
                <a:tc>
                  <a:txBody>
                    <a:bodyPr/>
                    <a:lstStyle/>
                    <a:p>
                      <a:pPr algn="l">
                        <a:lnSpc>
                          <a:spcPct val="92000"/>
                        </a:lnSpc>
                      </a:pPr>
                      <a:r>
                        <a:rPr sz="750" b="0">
                          <a:solidFill>
                            <a:srgbClr val="202020"/>
                          </a:solidFill>
                          <a:latin typeface="Calibri"/>
                        </a:rPr>
                        <a:t>Git</a:t>
                      </a:r>
                    </a:p>
                  </a:txBody>
                  <a:tcPr marL="64008" marR="64008" marT="18288" marB="18288" anchor="ctr">
                    <a:solidFill>
                      <a:srgbClr val="FFFFFF"/>
                    </a:solidFill>
                  </a:tcPr>
                </a:tc>
                <a:tc>
                  <a:txBody>
                    <a:bodyPr/>
                    <a:lstStyle/>
                    <a:p>
                      <a:pPr algn="l">
                        <a:lnSpc>
                          <a:spcPct val="92000"/>
                        </a:lnSpc>
                      </a:pPr>
                      <a:r>
                        <a:rPr sz="750" b="0">
                          <a:solidFill>
                            <a:srgbClr val="202020"/>
                          </a:solidFill>
                          <a:latin typeface="Calibri"/>
                        </a:rPr>
                        <a:t>—</a:t>
                      </a:r>
                    </a:p>
                  </a:txBody>
                  <a:tcPr marL="64008" marR="64008" marT="18288" marB="18288" anchor="ctr">
                    <a:solidFill>
                      <a:srgbClr val="FFFFFF"/>
                    </a:solidFill>
                  </a:tcPr>
                </a:tc>
              </a:tr>
              <a:tr h="238315">
                <a:tc>
                  <a:txBody>
                    <a:bodyPr/>
                    <a:lstStyle/>
                    <a:p>
                      <a:pPr algn="ctr">
                        <a:lnSpc>
                          <a:spcPct val="92000"/>
                        </a:lnSpc>
                      </a:pPr>
                      <a:r>
                        <a:rPr sz="750" b="1">
                          <a:solidFill>
                            <a:srgbClr val="142D5A"/>
                          </a:solidFill>
                          <a:latin typeface="Calibri"/>
                        </a:rPr>
                        <a:t>Diagramas</a:t>
                      </a:r>
                    </a:p>
                  </a:txBody>
                  <a:tcPr marL="64008" marR="64008" marT="18288" marB="18288" anchor="ctr">
                    <a:solidFill>
                      <a:srgbClr val="F2F5F9"/>
                    </a:solidFill>
                  </a:tcPr>
                </a:tc>
                <a:tc>
                  <a:txBody>
                    <a:bodyPr/>
                    <a:lstStyle/>
                    <a:p>
                      <a:pPr algn="l">
                        <a:lnSpc>
                          <a:spcPct val="92000"/>
                        </a:lnSpc>
                      </a:pPr>
                      <a:r>
                        <a:rPr sz="750" b="0">
                          <a:solidFill>
                            <a:srgbClr val="202020"/>
                          </a:solidFill>
                          <a:latin typeface="Calibri"/>
                        </a:rPr>
                        <a:t>Mermaid</a:t>
                      </a:r>
                    </a:p>
                  </a:txBody>
                  <a:tcPr marL="64008" marR="64008" marT="18288" marB="18288" anchor="ctr">
                    <a:solidFill>
                      <a:srgbClr val="F2F5F9"/>
                    </a:solidFill>
                  </a:tcPr>
                </a:tc>
                <a:tc>
                  <a:txBody>
                    <a:bodyPr/>
                    <a:lstStyle/>
                    <a:p>
                      <a:pPr algn="l">
                        <a:lnSpc>
                          <a:spcPct val="92000"/>
                        </a:lnSpc>
                      </a:pPr>
                      <a:r>
                        <a:rPr sz="750" b="0">
                          <a:solidFill>
                            <a:srgbClr val="202020"/>
                          </a:solidFill>
                          <a:latin typeface="Calibri"/>
                        </a:rPr>
                        <a:t>—</a:t>
                      </a:r>
                    </a:p>
                  </a:txBody>
                  <a:tcPr marL="64008" marR="64008" marT="18288" marB="18288" anchor="ctr">
                    <a:solidFill>
                      <a:srgbClr val="F2F5F9"/>
                    </a:solidFill>
                  </a:tcPr>
                </a:tc>
              </a:tr>
            </a:tbl>
          </a:graphicData>
        </a:graphic>
      </p:graphicFrame>
      <p:sp>
        <p:nvSpPr>
          <p:cNvPr id="9" name="Rectangle 8"/>
          <p:cNvSpPr/>
          <p:nvPr/>
        </p:nvSpPr>
        <p:spPr>
          <a:xfrm>
            <a:off x="566928" y="4725733"/>
            <a:ext cx="11057839" cy="25603"/>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66928" y="4789741"/>
            <a:ext cx="11057839" cy="237744"/>
          </a:xfrm>
          <a:prstGeom prst="rect">
            <a:avLst/>
          </a:prstGeom>
          <a:noFill/>
        </p:spPr>
        <p:txBody>
          <a:bodyPr wrap="square" anchor="t" lIns="0" rIns="0" tIns="0" bIns="0">
            <a:spAutoFit/>
          </a:bodyPr>
          <a:lstStyle/>
          <a:p>
            <a:pPr algn="l">
              <a:lnSpc>
                <a:spcPct val="95000"/>
              </a:lnSpc>
              <a:spcBef>
                <a:spcPts val="0"/>
              </a:spcBef>
              <a:spcAft>
                <a:spcPts val="0"/>
              </a:spcAft>
            </a:pPr>
            <a:r>
              <a:rPr sz="1150" b="1" i="0">
                <a:solidFill>
                  <a:srgbClr val="142D5A"/>
                </a:solidFill>
                <a:latin typeface="Calibri"/>
              </a:rPr>
              <a:t>DECISIONES DESTACADAS</a:t>
            </a:r>
          </a:p>
        </p:txBody>
      </p:sp>
      <p:sp>
        <p:nvSpPr>
          <p:cNvPr id="11" name="TextBox 10"/>
          <p:cNvSpPr txBox="1"/>
          <p:nvPr/>
        </p:nvSpPr>
        <p:spPr>
          <a:xfrm>
            <a:off x="566928" y="5054917"/>
            <a:ext cx="11057839" cy="977722"/>
          </a:xfrm>
          <a:prstGeom prst="rect">
            <a:avLst/>
          </a:prstGeom>
          <a:noFill/>
        </p:spPr>
        <p:txBody>
          <a:bodyPr wrap="square" anchor="t" lIns="0" rIns="0" tIns="0" bIns="0">
            <a:spAutoFit/>
          </a:bodyPr>
          <a:lstStyle/>
          <a:p>
            <a:pPr algn="l">
              <a:lnSpc>
                <a:spcPct val="95000"/>
              </a:lnSpc>
              <a:spcBef>
                <a:spcPts val="0"/>
              </a:spcBef>
              <a:spcAft>
                <a:spcPts val="300"/>
              </a:spcAft>
            </a:pPr>
            <a:r>
              <a:rPr sz="1350" b="0" i="0">
                <a:solidFill>
                  <a:srgbClr val="252525"/>
                </a:solidFill>
                <a:latin typeface="Calibri"/>
              </a:rPr>
              <a:t>▪  Sin frameworks PHP: decisión impuesta por el proyecto.</a:t>
            </a:r>
          </a:p>
          <a:p>
            <a:pPr algn="l">
              <a:lnSpc>
                <a:spcPct val="95000"/>
              </a:lnSpc>
              <a:spcBef>
                <a:spcPts val="0"/>
              </a:spcBef>
              <a:spcAft>
                <a:spcPts val="300"/>
              </a:spcAft>
            </a:pPr>
            <a:r>
              <a:rPr sz="1350" b="0" i="0">
                <a:solidFill>
                  <a:srgbClr val="252525"/>
                </a:solidFill>
                <a:latin typeface="Calibri"/>
              </a:rPr>
              <a:t>▪  Vue.js por CDN: evita el proceso de compilación.</a:t>
            </a:r>
          </a:p>
          <a:p>
            <a:pPr algn="l">
              <a:lnSpc>
                <a:spcPct val="95000"/>
              </a:lnSpc>
              <a:spcBef>
                <a:spcPts val="0"/>
              </a:spcBef>
              <a:spcAft>
                <a:spcPts val="300"/>
              </a:spcAft>
            </a:pPr>
            <a:r>
              <a:rPr sz="1350" b="0" i="0">
                <a:solidFill>
                  <a:srgbClr val="252525"/>
                </a:solidFill>
                <a:latin typeface="Calibri"/>
              </a:rPr>
              <a:t>▪  Parámetros en base de datos: las reglas de negocio no se modifican en el código.</a:t>
            </a:r>
          </a:p>
          <a:p>
            <a:pPr algn="l">
              <a:lnSpc>
                <a:spcPct val="95000"/>
              </a:lnSpc>
              <a:spcBef>
                <a:spcPts val="0"/>
              </a:spcBef>
              <a:spcAft>
                <a:spcPts val="300"/>
              </a:spcAft>
            </a:pPr>
            <a:r>
              <a:rPr sz="1350" b="0" i="0">
                <a:solidFill>
                  <a:srgbClr val="252525"/>
                </a:solidFill>
                <a:latin typeface="Calibri"/>
              </a:rPr>
              <a:t>▪  Migraciones versionadas: el esquema evoluciona de forma reproducible.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42D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146304"/>
            <a:ext cx="12191695" cy="3200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66928" y="384048"/>
            <a:ext cx="11057839" cy="566928"/>
          </a:xfrm>
          <a:prstGeom prst="rect">
            <a:avLst/>
          </a:prstGeom>
          <a:noFill/>
        </p:spPr>
        <p:txBody>
          <a:bodyPr wrap="square" anchor="t" lIns="0" rIns="0" tIns="0" bIns="0">
            <a:spAutoFit/>
          </a:bodyPr>
          <a:lstStyle/>
          <a:p>
            <a:pPr algn="l">
              <a:lnSpc>
                <a:spcPct val="90000"/>
              </a:lnSpc>
              <a:spcBef>
                <a:spcPts val="0"/>
              </a:spcBef>
              <a:spcAft>
                <a:spcPts val="0"/>
              </a:spcAft>
            </a:pPr>
            <a:r>
              <a:rPr sz="2700" b="1" i="0">
                <a:solidFill>
                  <a:srgbClr val="142D5A"/>
                </a:solidFill>
                <a:latin typeface="Calibri"/>
              </a:rPr>
              <a:t>Pruebas y resultados</a:t>
            </a:r>
          </a:p>
        </p:txBody>
      </p:sp>
      <p:sp>
        <p:nvSpPr>
          <p:cNvPr id="5" name="Rectangle 4"/>
          <p:cNvSpPr/>
          <p:nvPr/>
        </p:nvSpPr>
        <p:spPr>
          <a:xfrm>
            <a:off x="566928" y="1115568"/>
            <a:ext cx="11057839" cy="20116"/>
          </a:xfrm>
          <a:prstGeom prst="rect">
            <a:avLst/>
          </a:prstGeom>
          <a:solidFill>
            <a:srgbClr val="C6D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6382512"/>
            <a:ext cx="10600639" cy="274320"/>
          </a:xfrm>
          <a:prstGeom prst="rect">
            <a:avLst/>
          </a:prstGeom>
          <a:noFill/>
        </p:spPr>
        <p:txBody>
          <a:bodyPr wrap="square" anchor="t" lIns="0" rIns="0" tIns="0" bIns="0">
            <a:spAutoFit/>
          </a:bodyPr>
          <a:lstStyle/>
          <a:p>
            <a:pPr algn="l">
              <a:lnSpc>
                <a:spcPct val="95000"/>
              </a:lnSpc>
              <a:spcBef>
                <a:spcPts val="0"/>
              </a:spcBef>
              <a:spcAft>
                <a:spcPts val="0"/>
              </a:spcAft>
            </a:pPr>
            <a:r>
              <a:rPr sz="850" b="0" i="0">
                <a:solidFill>
                  <a:srgbClr val="505A6B"/>
                </a:solidFill>
                <a:latin typeface="Calibri"/>
              </a:rPr>
              <a:t>UNIVERSIDAD PRIVADA DOMINGO SAVIO  ·  Sistema de Tutorias y Modalidades de Grado  ·  Grupo 7</a:t>
            </a:r>
          </a:p>
        </p:txBody>
      </p:sp>
      <p:sp>
        <p:nvSpPr>
          <p:cNvPr id="7" name="TextBox 6"/>
          <p:cNvSpPr txBox="1"/>
          <p:nvPr/>
        </p:nvSpPr>
        <p:spPr>
          <a:xfrm>
            <a:off x="11121847" y="6382512"/>
            <a:ext cx="502920" cy="274320"/>
          </a:xfrm>
          <a:prstGeom prst="rect">
            <a:avLst/>
          </a:prstGeom>
          <a:noFill/>
        </p:spPr>
        <p:txBody>
          <a:bodyPr wrap="square" anchor="t" lIns="0" rIns="0" tIns="0" bIns="0">
            <a:spAutoFit/>
          </a:bodyPr>
          <a:lstStyle/>
          <a:p>
            <a:pPr algn="r">
              <a:lnSpc>
                <a:spcPct val="95000"/>
              </a:lnSpc>
              <a:spcBef>
                <a:spcPts val="0"/>
              </a:spcBef>
              <a:spcAft>
                <a:spcPts val="0"/>
              </a:spcAft>
            </a:pPr>
            <a:r>
              <a:rPr sz="950" b="1" i="0">
                <a:solidFill>
                  <a:srgbClr val="142D5A"/>
                </a:solidFill>
                <a:latin typeface="Calibri"/>
              </a:rPr>
              <a:t>12 / 15</a:t>
            </a:r>
          </a:p>
        </p:txBody>
      </p:sp>
      <p:graphicFrame>
        <p:nvGraphicFramePr>
          <p:cNvPr id="8" name="Table 7"/>
          <p:cNvGraphicFramePr>
            <a:graphicFrameLocks noGrp="1"/>
          </p:cNvGraphicFramePr>
          <p:nvPr/>
        </p:nvGraphicFramePr>
        <p:xfrm>
          <a:off x="566928" y="1481328"/>
          <a:ext cx="11057838" cy="3658743"/>
        </p:xfrm>
        <a:graphic>
          <a:graphicData uri="http://schemas.openxmlformats.org/drawingml/2006/table">
            <a:tbl>
              <a:tblPr firstRow="1">
                <a:tableStyleId>{5C22544A-7EE6-4342-B048-85BDC9FD1C3A}</a:tableStyleId>
              </a:tblPr>
              <a:tblGrid>
                <a:gridCol w="3940149"/>
                <a:gridCol w="1525219"/>
                <a:gridCol w="5592470"/>
              </a:tblGrid>
              <a:tr h="332613">
                <a:tc>
                  <a:txBody>
                    <a:bodyPr/>
                    <a:lstStyle/>
                    <a:p>
                      <a:pPr algn="ctr">
                        <a:lnSpc>
                          <a:spcPct val="92000"/>
                        </a:lnSpc>
                      </a:pPr>
                      <a:r>
                        <a:rPr sz="1300" b="1">
                          <a:solidFill>
                            <a:srgbClr val="FFFFFF"/>
                          </a:solidFill>
                          <a:latin typeface="Calibri"/>
                        </a:rPr>
                        <a:t>Categoría</a:t>
                      </a:r>
                    </a:p>
                  </a:txBody>
                  <a:tcPr marL="64008" marR="64008" marT="18288" marB="18288" anchor="ctr">
                    <a:solidFill>
                      <a:srgbClr val="142D5A"/>
                    </a:solidFill>
                  </a:tcPr>
                </a:tc>
                <a:tc>
                  <a:txBody>
                    <a:bodyPr/>
                    <a:lstStyle/>
                    <a:p>
                      <a:pPr algn="ctr">
                        <a:lnSpc>
                          <a:spcPct val="92000"/>
                        </a:lnSpc>
                      </a:pPr>
                      <a:r>
                        <a:rPr sz="1300" b="1">
                          <a:solidFill>
                            <a:srgbClr val="FFFFFF"/>
                          </a:solidFill>
                          <a:latin typeface="Calibri"/>
                        </a:rPr>
                        <a:t>Casos</a:t>
                      </a:r>
                    </a:p>
                  </a:txBody>
                  <a:tcPr marL="64008" marR="64008" marT="18288" marB="18288" anchor="ctr">
                    <a:solidFill>
                      <a:srgbClr val="142D5A"/>
                    </a:solidFill>
                  </a:tcPr>
                </a:tc>
                <a:tc>
                  <a:txBody>
                    <a:bodyPr/>
                    <a:lstStyle/>
                    <a:p>
                      <a:pPr algn="ctr">
                        <a:lnSpc>
                          <a:spcPct val="92000"/>
                        </a:lnSpc>
                      </a:pPr>
                      <a:r>
                        <a:rPr sz="1300" b="1">
                          <a:solidFill>
                            <a:srgbClr val="FFFFFF"/>
                          </a:solidFill>
                          <a:latin typeface="Calibri"/>
                        </a:rPr>
                        <a:t>Cobertura</a:t>
                      </a:r>
                    </a:p>
                  </a:txBody>
                  <a:tcPr marL="64008" marR="64008" marT="18288" marB="18288" anchor="ctr">
                    <a:solidFill>
                      <a:srgbClr val="142D5A"/>
                    </a:solidFill>
                  </a:tcPr>
                </a:tc>
              </a:tr>
              <a:tr h="332613">
                <a:tc>
                  <a:txBody>
                    <a:bodyPr/>
                    <a:lstStyle/>
                    <a:p>
                      <a:pPr algn="ctr">
                        <a:lnSpc>
                          <a:spcPct val="92000"/>
                        </a:lnSpc>
                      </a:pPr>
                      <a:r>
                        <a:rPr sz="1300" b="1">
                          <a:solidFill>
                            <a:srgbClr val="142D5A"/>
                          </a:solidFill>
                          <a:latin typeface="Calibri"/>
                        </a:rPr>
                        <a:t>Autenticación y acceso</a:t>
                      </a:r>
                    </a:p>
                  </a:txBody>
                  <a:tcPr marL="64008" marR="64008" marT="18288" marB="18288" anchor="ctr">
                    <a:solidFill>
                      <a:srgbClr val="FFFFFF"/>
                    </a:solidFill>
                  </a:tcPr>
                </a:tc>
                <a:tc>
                  <a:txBody>
                    <a:bodyPr/>
                    <a:lstStyle/>
                    <a:p>
                      <a:pPr algn="l">
                        <a:lnSpc>
                          <a:spcPct val="92000"/>
                        </a:lnSpc>
                      </a:pPr>
                      <a:r>
                        <a:rPr sz="1300" b="0">
                          <a:solidFill>
                            <a:srgbClr val="202020"/>
                          </a:solidFill>
                          <a:latin typeface="Calibri"/>
                        </a:rPr>
                        <a:t>10</a:t>
                      </a:r>
                    </a:p>
                  </a:txBody>
                  <a:tcPr marL="64008" marR="64008" marT="18288" marB="18288" anchor="ctr">
                    <a:solidFill>
                      <a:srgbClr val="FFFFFF"/>
                    </a:solidFill>
                  </a:tcPr>
                </a:tc>
                <a:tc>
                  <a:txBody>
                    <a:bodyPr/>
                    <a:lstStyle/>
                    <a:p>
                      <a:pPr algn="l">
                        <a:lnSpc>
                          <a:spcPct val="92000"/>
                        </a:lnSpc>
                      </a:pPr>
                      <a:r>
                        <a:rPr sz="1300" b="0">
                          <a:solidFill>
                            <a:srgbClr val="202020"/>
                          </a:solidFill>
                          <a:latin typeface="Calibri"/>
                        </a:rPr>
                        <a:t>Acceso seguro al sistema.</a:t>
                      </a:r>
                    </a:p>
                  </a:txBody>
                  <a:tcPr marL="64008" marR="64008" marT="18288" marB="18288" anchor="ctr">
                    <a:solidFill>
                      <a:srgbClr val="FFFFFF"/>
                    </a:solidFill>
                  </a:tcPr>
                </a:tc>
              </a:tr>
              <a:tr h="332613">
                <a:tc>
                  <a:txBody>
                    <a:bodyPr/>
                    <a:lstStyle/>
                    <a:p>
                      <a:pPr algn="ctr">
                        <a:lnSpc>
                          <a:spcPct val="92000"/>
                        </a:lnSpc>
                      </a:pPr>
                      <a:r>
                        <a:rPr sz="1300" b="1">
                          <a:solidFill>
                            <a:srgbClr val="142D5A"/>
                          </a:solidFill>
                          <a:latin typeface="Calibri"/>
                        </a:rPr>
                        <a:t>Seguridad</a:t>
                      </a:r>
                    </a:p>
                  </a:txBody>
                  <a:tcPr marL="64008" marR="64008" marT="18288" marB="18288" anchor="ctr">
                    <a:solidFill>
                      <a:srgbClr val="F2F5F9"/>
                    </a:solidFill>
                  </a:tcPr>
                </a:tc>
                <a:tc>
                  <a:txBody>
                    <a:bodyPr/>
                    <a:lstStyle/>
                    <a:p>
                      <a:pPr algn="l">
                        <a:lnSpc>
                          <a:spcPct val="92000"/>
                        </a:lnSpc>
                      </a:pPr>
                      <a:r>
                        <a:rPr sz="1300" b="0">
                          <a:solidFill>
                            <a:srgbClr val="202020"/>
                          </a:solidFill>
                          <a:latin typeface="Calibri"/>
                        </a:rPr>
                        <a:t>14</a:t>
                      </a:r>
                    </a:p>
                  </a:txBody>
                  <a:tcPr marL="64008" marR="64008" marT="18288" marB="18288" anchor="ctr">
                    <a:solidFill>
                      <a:srgbClr val="F2F5F9"/>
                    </a:solidFill>
                  </a:tcPr>
                </a:tc>
                <a:tc>
                  <a:txBody>
                    <a:bodyPr/>
                    <a:lstStyle/>
                    <a:p>
                      <a:pPr algn="l">
                        <a:lnSpc>
                          <a:spcPct val="92000"/>
                        </a:lnSpc>
                      </a:pPr>
                      <a:r>
                        <a:rPr sz="1300" b="0">
                          <a:solidFill>
                            <a:srgbClr val="202020"/>
                          </a:solidFill>
                          <a:latin typeface="Calibri"/>
                        </a:rPr>
                        <a:t>Inyección, CSRF, XSS, control de acceso.</a:t>
                      </a:r>
                    </a:p>
                  </a:txBody>
                  <a:tcPr marL="64008" marR="64008" marT="18288" marB="18288" anchor="ctr">
                    <a:solidFill>
                      <a:srgbClr val="F2F5F9"/>
                    </a:solidFill>
                  </a:tcPr>
                </a:tc>
              </a:tr>
              <a:tr h="332613">
                <a:tc>
                  <a:txBody>
                    <a:bodyPr/>
                    <a:lstStyle/>
                    <a:p>
                      <a:pPr algn="ctr">
                        <a:lnSpc>
                          <a:spcPct val="92000"/>
                        </a:lnSpc>
                      </a:pPr>
                      <a:r>
                        <a:rPr sz="1300" b="1">
                          <a:solidFill>
                            <a:srgbClr val="142D5A"/>
                          </a:solidFill>
                          <a:latin typeface="Calibri"/>
                        </a:rPr>
                        <a:t>Ofertas y disponibilidad</a:t>
                      </a:r>
                    </a:p>
                  </a:txBody>
                  <a:tcPr marL="64008" marR="64008" marT="18288" marB="18288" anchor="ctr">
                    <a:solidFill>
                      <a:srgbClr val="FFFFFF"/>
                    </a:solidFill>
                  </a:tcPr>
                </a:tc>
                <a:tc>
                  <a:txBody>
                    <a:bodyPr/>
                    <a:lstStyle/>
                    <a:p>
                      <a:pPr algn="l">
                        <a:lnSpc>
                          <a:spcPct val="92000"/>
                        </a:lnSpc>
                      </a:pPr>
                      <a:r>
                        <a:rPr sz="1300" b="0">
                          <a:solidFill>
                            <a:srgbClr val="202020"/>
                          </a:solidFill>
                          <a:latin typeface="Calibri"/>
                        </a:rPr>
                        <a:t>9</a:t>
                      </a:r>
                    </a:p>
                  </a:txBody>
                  <a:tcPr marL="64008" marR="64008" marT="18288" marB="18288" anchor="ctr">
                    <a:solidFill>
                      <a:srgbClr val="FFFFFF"/>
                    </a:solidFill>
                  </a:tcPr>
                </a:tc>
                <a:tc>
                  <a:txBody>
                    <a:bodyPr/>
                    <a:lstStyle/>
                    <a:p>
                      <a:pPr algn="l">
                        <a:lnSpc>
                          <a:spcPct val="92000"/>
                        </a:lnSpc>
                      </a:pPr>
                      <a:r>
                        <a:rPr sz="1300" b="0">
                          <a:solidFill>
                            <a:srgbClr val="202020"/>
                          </a:solidFill>
                          <a:latin typeface="Calibri"/>
                        </a:rPr>
                        <a:t>Publicación de tutorías.</a:t>
                      </a:r>
                    </a:p>
                  </a:txBody>
                  <a:tcPr marL="64008" marR="64008" marT="18288" marB="18288" anchor="ctr">
                    <a:solidFill>
                      <a:srgbClr val="FFFFFF"/>
                    </a:solidFill>
                  </a:tcPr>
                </a:tc>
              </a:tr>
              <a:tr h="332613">
                <a:tc>
                  <a:txBody>
                    <a:bodyPr/>
                    <a:lstStyle/>
                    <a:p>
                      <a:pPr algn="ctr">
                        <a:lnSpc>
                          <a:spcPct val="92000"/>
                        </a:lnSpc>
                      </a:pPr>
                      <a:r>
                        <a:rPr sz="1300" b="1">
                          <a:solidFill>
                            <a:srgbClr val="142D5A"/>
                          </a:solidFill>
                          <a:latin typeface="Calibri"/>
                        </a:rPr>
                        <a:t>Solicitud y seguimiento</a:t>
                      </a:r>
                    </a:p>
                  </a:txBody>
                  <a:tcPr marL="64008" marR="64008" marT="18288" marB="18288" anchor="ctr">
                    <a:solidFill>
                      <a:srgbClr val="F2F5F9"/>
                    </a:solidFill>
                  </a:tcPr>
                </a:tc>
                <a:tc>
                  <a:txBody>
                    <a:bodyPr/>
                    <a:lstStyle/>
                    <a:p>
                      <a:pPr algn="l">
                        <a:lnSpc>
                          <a:spcPct val="92000"/>
                        </a:lnSpc>
                      </a:pPr>
                      <a:r>
                        <a:rPr sz="1300" b="0">
                          <a:solidFill>
                            <a:srgbClr val="202020"/>
                          </a:solidFill>
                          <a:latin typeface="Calibri"/>
                        </a:rPr>
                        <a:t>15</a:t>
                      </a:r>
                    </a:p>
                  </a:txBody>
                  <a:tcPr marL="64008" marR="64008" marT="18288" marB="18288" anchor="ctr">
                    <a:solidFill>
                      <a:srgbClr val="F2F5F9"/>
                    </a:solidFill>
                  </a:tcPr>
                </a:tc>
                <a:tc>
                  <a:txBody>
                    <a:bodyPr/>
                    <a:lstStyle/>
                    <a:p>
                      <a:pPr algn="l">
                        <a:lnSpc>
                          <a:spcPct val="92000"/>
                        </a:lnSpc>
                      </a:pPr>
                      <a:r>
                        <a:rPr sz="1300" b="0">
                          <a:solidFill>
                            <a:srgbClr val="202020"/>
                          </a:solidFill>
                          <a:latin typeface="Calibri"/>
                        </a:rPr>
                        <a:t>Ciclo de vida de la tutoría.</a:t>
                      </a:r>
                    </a:p>
                  </a:txBody>
                  <a:tcPr marL="64008" marR="64008" marT="18288" marB="18288" anchor="ctr">
                    <a:solidFill>
                      <a:srgbClr val="F2F5F9"/>
                    </a:solidFill>
                  </a:tcPr>
                </a:tc>
              </a:tr>
              <a:tr h="332613">
                <a:tc>
                  <a:txBody>
                    <a:bodyPr/>
                    <a:lstStyle/>
                    <a:p>
                      <a:pPr algn="ctr">
                        <a:lnSpc>
                          <a:spcPct val="92000"/>
                        </a:lnSpc>
                      </a:pPr>
                      <a:r>
                        <a:rPr sz="1300" b="1">
                          <a:solidFill>
                            <a:srgbClr val="142D5A"/>
                          </a:solidFill>
                          <a:latin typeface="Calibri"/>
                        </a:rPr>
                        <a:t>Evaluación e indicadores</a:t>
                      </a:r>
                    </a:p>
                  </a:txBody>
                  <a:tcPr marL="64008" marR="64008" marT="18288" marB="18288" anchor="ctr">
                    <a:solidFill>
                      <a:srgbClr val="FFFFFF"/>
                    </a:solidFill>
                  </a:tcPr>
                </a:tc>
                <a:tc>
                  <a:txBody>
                    <a:bodyPr/>
                    <a:lstStyle/>
                    <a:p>
                      <a:pPr algn="l">
                        <a:lnSpc>
                          <a:spcPct val="92000"/>
                        </a:lnSpc>
                      </a:pPr>
                      <a:r>
                        <a:rPr sz="1300" b="0">
                          <a:solidFill>
                            <a:srgbClr val="202020"/>
                          </a:solidFill>
                          <a:latin typeface="Calibri"/>
                        </a:rPr>
                        <a:t>10</a:t>
                      </a:r>
                    </a:p>
                  </a:txBody>
                  <a:tcPr marL="64008" marR="64008" marT="18288" marB="18288" anchor="ctr">
                    <a:solidFill>
                      <a:srgbClr val="FFFFFF"/>
                    </a:solidFill>
                  </a:tcPr>
                </a:tc>
                <a:tc>
                  <a:txBody>
                    <a:bodyPr/>
                    <a:lstStyle/>
                    <a:p>
                      <a:pPr algn="l">
                        <a:lnSpc>
                          <a:spcPct val="92000"/>
                        </a:lnSpc>
                      </a:pPr>
                      <a:r>
                        <a:rPr sz="1300" b="0">
                          <a:solidFill>
                            <a:srgbClr val="202020"/>
                          </a:solidFill>
                          <a:latin typeface="Calibri"/>
                        </a:rPr>
                        <a:t>Valoración y gestión.</a:t>
                      </a:r>
                    </a:p>
                  </a:txBody>
                  <a:tcPr marL="64008" marR="64008" marT="18288" marB="18288" anchor="ctr">
                    <a:solidFill>
                      <a:srgbClr val="FFFFFF"/>
                    </a:solidFill>
                  </a:tcPr>
                </a:tc>
              </a:tr>
              <a:tr h="332613">
                <a:tc>
                  <a:txBody>
                    <a:bodyPr/>
                    <a:lstStyle/>
                    <a:p>
                      <a:pPr algn="ctr">
                        <a:lnSpc>
                          <a:spcPct val="92000"/>
                        </a:lnSpc>
                      </a:pPr>
                      <a:r>
                        <a:rPr sz="1300" b="1">
                          <a:solidFill>
                            <a:srgbClr val="142D5A"/>
                          </a:solidFill>
                          <a:latin typeface="Calibri"/>
                        </a:rPr>
                        <a:t>Usuarios, roles y catálogos</a:t>
                      </a:r>
                    </a:p>
                  </a:txBody>
                  <a:tcPr marL="64008" marR="64008" marT="18288" marB="18288" anchor="ctr">
                    <a:solidFill>
                      <a:srgbClr val="F2F5F9"/>
                    </a:solidFill>
                  </a:tcPr>
                </a:tc>
                <a:tc>
                  <a:txBody>
                    <a:bodyPr/>
                    <a:lstStyle/>
                    <a:p>
                      <a:pPr algn="l">
                        <a:lnSpc>
                          <a:spcPct val="92000"/>
                        </a:lnSpc>
                      </a:pPr>
                      <a:r>
                        <a:rPr sz="1300" b="0">
                          <a:solidFill>
                            <a:srgbClr val="202020"/>
                          </a:solidFill>
                          <a:latin typeface="Calibri"/>
                        </a:rPr>
                        <a:t>8</a:t>
                      </a:r>
                    </a:p>
                  </a:txBody>
                  <a:tcPr marL="64008" marR="64008" marT="18288" marB="18288" anchor="ctr">
                    <a:solidFill>
                      <a:srgbClr val="F2F5F9"/>
                    </a:solidFill>
                  </a:tcPr>
                </a:tc>
                <a:tc>
                  <a:txBody>
                    <a:bodyPr/>
                    <a:lstStyle/>
                    <a:p>
                      <a:pPr algn="l">
                        <a:lnSpc>
                          <a:spcPct val="92000"/>
                        </a:lnSpc>
                      </a:pPr>
                      <a:r>
                        <a:rPr sz="1300" b="0">
                          <a:solidFill>
                            <a:srgbClr val="202020"/>
                          </a:solidFill>
                          <a:latin typeface="Calibri"/>
                        </a:rPr>
                        <a:t>Administración institucional.</a:t>
                      </a:r>
                    </a:p>
                  </a:txBody>
                  <a:tcPr marL="64008" marR="64008" marT="18288" marB="18288" anchor="ctr">
                    <a:solidFill>
                      <a:srgbClr val="F2F5F9"/>
                    </a:solidFill>
                  </a:tcPr>
                </a:tc>
              </a:tr>
              <a:tr h="332613">
                <a:tc>
                  <a:txBody>
                    <a:bodyPr/>
                    <a:lstStyle/>
                    <a:p>
                      <a:pPr algn="ctr">
                        <a:lnSpc>
                          <a:spcPct val="92000"/>
                        </a:lnSpc>
                      </a:pPr>
                      <a:r>
                        <a:rPr sz="1300" b="1">
                          <a:solidFill>
                            <a:srgbClr val="142D5A"/>
                          </a:solidFill>
                          <a:latin typeface="Calibri"/>
                        </a:rPr>
                        <a:t>Modalidades de grado</a:t>
                      </a:r>
                    </a:p>
                  </a:txBody>
                  <a:tcPr marL="64008" marR="64008" marT="18288" marB="18288" anchor="ctr">
                    <a:solidFill>
                      <a:srgbClr val="FFFFFF"/>
                    </a:solidFill>
                  </a:tcPr>
                </a:tc>
                <a:tc>
                  <a:txBody>
                    <a:bodyPr/>
                    <a:lstStyle/>
                    <a:p>
                      <a:pPr algn="l">
                        <a:lnSpc>
                          <a:spcPct val="92000"/>
                        </a:lnSpc>
                      </a:pPr>
                      <a:r>
                        <a:rPr sz="1300" b="0">
                          <a:solidFill>
                            <a:srgbClr val="202020"/>
                          </a:solidFill>
                          <a:latin typeface="Calibri"/>
                        </a:rPr>
                        <a:t>39</a:t>
                      </a:r>
                    </a:p>
                  </a:txBody>
                  <a:tcPr marL="64008" marR="64008" marT="18288" marB="18288" anchor="ctr">
                    <a:solidFill>
                      <a:srgbClr val="FFFFFF"/>
                    </a:solidFill>
                  </a:tcPr>
                </a:tc>
                <a:tc>
                  <a:txBody>
                    <a:bodyPr/>
                    <a:lstStyle/>
                    <a:p>
                      <a:pPr algn="l">
                        <a:lnSpc>
                          <a:spcPct val="92000"/>
                        </a:lnSpc>
                      </a:pPr>
                      <a:r>
                        <a:rPr sz="1300" b="0">
                          <a:solidFill>
                            <a:srgbClr val="202020"/>
                          </a:solidFill>
                          <a:latin typeface="Calibri"/>
                        </a:rPr>
                        <a:t>Catálogo, declaración y operación.</a:t>
                      </a:r>
                    </a:p>
                  </a:txBody>
                  <a:tcPr marL="64008" marR="64008" marT="18288" marB="18288" anchor="ctr">
                    <a:solidFill>
                      <a:srgbClr val="FFFFFF"/>
                    </a:solidFill>
                  </a:tcPr>
                </a:tc>
              </a:tr>
              <a:tr h="332613">
                <a:tc>
                  <a:txBody>
                    <a:bodyPr/>
                    <a:lstStyle/>
                    <a:p>
                      <a:pPr algn="ctr">
                        <a:lnSpc>
                          <a:spcPct val="92000"/>
                        </a:lnSpc>
                      </a:pPr>
                      <a:r>
                        <a:rPr sz="1300" b="1">
                          <a:solidFill>
                            <a:srgbClr val="142D5A"/>
                          </a:solidFill>
                          <a:latin typeface="Calibri"/>
                        </a:rPr>
                        <a:t>Interfaz y usabilidad</a:t>
                      </a:r>
                    </a:p>
                  </a:txBody>
                  <a:tcPr marL="64008" marR="64008" marT="18288" marB="18288" anchor="ctr">
                    <a:solidFill>
                      <a:srgbClr val="F2F5F9"/>
                    </a:solidFill>
                  </a:tcPr>
                </a:tc>
                <a:tc>
                  <a:txBody>
                    <a:bodyPr/>
                    <a:lstStyle/>
                    <a:p>
                      <a:pPr algn="l">
                        <a:lnSpc>
                          <a:spcPct val="92000"/>
                        </a:lnSpc>
                      </a:pPr>
                      <a:r>
                        <a:rPr sz="1300" b="0">
                          <a:solidFill>
                            <a:srgbClr val="202020"/>
                          </a:solidFill>
                          <a:latin typeface="Calibri"/>
                        </a:rPr>
                        <a:t>7</a:t>
                      </a:r>
                    </a:p>
                  </a:txBody>
                  <a:tcPr marL="64008" marR="64008" marT="18288" marB="18288" anchor="ctr">
                    <a:solidFill>
                      <a:srgbClr val="F2F5F9"/>
                    </a:solidFill>
                  </a:tcPr>
                </a:tc>
                <a:tc>
                  <a:txBody>
                    <a:bodyPr/>
                    <a:lstStyle/>
                    <a:p>
                      <a:pPr algn="l">
                        <a:lnSpc>
                          <a:spcPct val="92000"/>
                        </a:lnSpc>
                      </a:pPr>
                      <a:r>
                        <a:rPr sz="1300" b="0">
                          <a:solidFill>
                            <a:srgbClr val="202020"/>
                          </a:solidFill>
                          <a:latin typeface="Calibri"/>
                        </a:rPr>
                        <a:t>Calidad de la interacción.</a:t>
                      </a:r>
                    </a:p>
                  </a:txBody>
                  <a:tcPr marL="64008" marR="64008" marT="18288" marB="18288" anchor="ctr">
                    <a:solidFill>
                      <a:srgbClr val="F2F5F9"/>
                    </a:solidFill>
                  </a:tcPr>
                </a:tc>
              </a:tr>
              <a:tr h="332613">
                <a:tc>
                  <a:txBody>
                    <a:bodyPr/>
                    <a:lstStyle/>
                    <a:p>
                      <a:pPr algn="ctr">
                        <a:lnSpc>
                          <a:spcPct val="92000"/>
                        </a:lnSpc>
                      </a:pPr>
                      <a:r>
                        <a:rPr sz="1300" b="1">
                          <a:solidFill>
                            <a:srgbClr val="142D5A"/>
                          </a:solidFill>
                          <a:latin typeface="Calibri"/>
                        </a:rPr>
                        <a:t>Rendimiento y despliegue</a:t>
                      </a:r>
                    </a:p>
                  </a:txBody>
                  <a:tcPr marL="64008" marR="64008" marT="18288" marB="18288" anchor="ctr">
                    <a:solidFill>
                      <a:srgbClr val="FFFFFF"/>
                    </a:solidFill>
                  </a:tcPr>
                </a:tc>
                <a:tc>
                  <a:txBody>
                    <a:bodyPr/>
                    <a:lstStyle/>
                    <a:p>
                      <a:pPr algn="l">
                        <a:lnSpc>
                          <a:spcPct val="92000"/>
                        </a:lnSpc>
                      </a:pPr>
                      <a:r>
                        <a:rPr sz="1300" b="0">
                          <a:solidFill>
                            <a:srgbClr val="202020"/>
                          </a:solidFill>
                          <a:latin typeface="Calibri"/>
                        </a:rPr>
                        <a:t>8</a:t>
                      </a:r>
                    </a:p>
                  </a:txBody>
                  <a:tcPr marL="64008" marR="64008" marT="18288" marB="18288" anchor="ctr">
                    <a:solidFill>
                      <a:srgbClr val="FFFFFF"/>
                    </a:solidFill>
                  </a:tcPr>
                </a:tc>
                <a:tc>
                  <a:txBody>
                    <a:bodyPr/>
                    <a:lstStyle/>
                    <a:p>
                      <a:pPr algn="l">
                        <a:lnSpc>
                          <a:spcPct val="92000"/>
                        </a:lnSpc>
                      </a:pPr>
                      <a:r>
                        <a:rPr sz="1300" b="0">
                          <a:solidFill>
                            <a:srgbClr val="202020"/>
                          </a:solidFill>
                          <a:latin typeface="Calibri"/>
                        </a:rPr>
                        <a:t>Desempeño y operación.</a:t>
                      </a:r>
                    </a:p>
                  </a:txBody>
                  <a:tcPr marL="64008" marR="64008" marT="18288" marB="18288" anchor="ctr">
                    <a:solidFill>
                      <a:srgbClr val="FFFFFF"/>
                    </a:solidFill>
                  </a:tcPr>
                </a:tc>
              </a:tr>
              <a:tr h="332613">
                <a:tc>
                  <a:txBody>
                    <a:bodyPr/>
                    <a:lstStyle/>
                    <a:p>
                      <a:pPr algn="ctr">
                        <a:lnSpc>
                          <a:spcPct val="92000"/>
                        </a:lnSpc>
                      </a:pPr>
                      <a:r>
                        <a:rPr sz="1300" b="1">
                          <a:solidFill>
                            <a:srgbClr val="142D5A"/>
                          </a:solidFill>
                          <a:latin typeface="Calibri"/>
                        </a:rPr>
                        <a:t>Total</a:t>
                      </a:r>
                    </a:p>
                  </a:txBody>
                  <a:tcPr marL="64008" marR="64008" marT="18288" marB="18288" anchor="ctr">
                    <a:solidFill>
                      <a:srgbClr val="F2F5F9"/>
                    </a:solidFill>
                  </a:tcPr>
                </a:tc>
                <a:tc>
                  <a:txBody>
                    <a:bodyPr/>
                    <a:lstStyle/>
                    <a:p>
                      <a:pPr algn="l">
                        <a:lnSpc>
                          <a:spcPct val="92000"/>
                        </a:lnSpc>
                      </a:pPr>
                      <a:r>
                        <a:rPr sz="1300" b="0">
                          <a:solidFill>
                            <a:srgbClr val="202020"/>
                          </a:solidFill>
                          <a:latin typeface="Calibri"/>
                        </a:rPr>
                        <a:t>120</a:t>
                      </a:r>
                    </a:p>
                  </a:txBody>
                  <a:tcPr marL="64008" marR="64008" marT="18288" marB="18288" anchor="ctr">
                    <a:solidFill>
                      <a:srgbClr val="F2F5F9"/>
                    </a:solidFill>
                  </a:tcPr>
                </a:tc>
                <a:tc>
                  <a:txBody>
                    <a:bodyPr/>
                    <a:lstStyle/>
                    <a:p>
                      <a:pPr algn="l">
                        <a:lnSpc>
                          <a:spcPct val="92000"/>
                        </a:lnSpc>
                      </a:pPr>
                      <a:r>
                        <a:rPr sz="1300" b="0">
                          <a:solidFill>
                            <a:srgbClr val="202020"/>
                          </a:solidFill>
                          <a:latin typeface="Calibri"/>
                        </a:rPr>
                        <a:t>—</a:t>
                      </a:r>
                    </a:p>
                  </a:txBody>
                  <a:tcPr marL="64008" marR="64008" marT="18288" marB="18288" anchor="ctr">
                    <a:solidFill>
                      <a:srgbClr val="F2F5F9"/>
                    </a:solidFill>
                  </a:tcPr>
                </a:tc>
              </a:tr>
            </a:tbl>
          </a:graphicData>
        </a:graphic>
      </p:graphicFrame>
      <p:graphicFrame>
        <p:nvGraphicFramePr>
          <p:cNvPr id="9" name="Table 8"/>
          <p:cNvGraphicFramePr>
            <a:graphicFrameLocks noGrp="1"/>
          </p:cNvGraphicFramePr>
          <p:nvPr/>
        </p:nvGraphicFramePr>
        <p:xfrm>
          <a:off x="566928" y="5286375"/>
          <a:ext cx="11057837" cy="785240"/>
        </p:xfrm>
        <a:graphic>
          <a:graphicData uri="http://schemas.openxmlformats.org/drawingml/2006/table">
            <a:tbl>
              <a:tblPr firstRow="1">
                <a:tableStyleId>{5C22544A-7EE6-4342-B048-85BDC9FD1C3A}</a:tableStyleId>
              </a:tblPr>
              <a:tblGrid>
                <a:gridCol w="3775847"/>
                <a:gridCol w="3236440"/>
                <a:gridCol w="4045550"/>
              </a:tblGrid>
              <a:tr h="196310">
                <a:tc>
                  <a:txBody>
                    <a:bodyPr/>
                    <a:lstStyle/>
                    <a:p>
                      <a:pPr algn="ctr">
                        <a:lnSpc>
                          <a:spcPct val="92000"/>
                        </a:lnSpc>
                      </a:pPr>
                      <a:r>
                        <a:rPr sz="700" b="1">
                          <a:solidFill>
                            <a:srgbClr val="FFFFFF"/>
                          </a:solidFill>
                          <a:latin typeface="Calibri"/>
                        </a:rPr>
                        <a:t>Prioridad</a:t>
                      </a:r>
                    </a:p>
                  </a:txBody>
                  <a:tcPr marL="64008" marR="64008" marT="18288" marB="18288" anchor="ctr">
                    <a:solidFill>
                      <a:srgbClr val="142D5A"/>
                    </a:solidFill>
                  </a:tcPr>
                </a:tc>
                <a:tc>
                  <a:txBody>
                    <a:bodyPr/>
                    <a:lstStyle/>
                    <a:p>
                      <a:pPr algn="ctr">
                        <a:lnSpc>
                          <a:spcPct val="92000"/>
                        </a:lnSpc>
                      </a:pPr>
                      <a:r>
                        <a:rPr sz="700" b="1">
                          <a:solidFill>
                            <a:srgbClr val="FFFFFF"/>
                          </a:solidFill>
                          <a:latin typeface="Calibri"/>
                        </a:rPr>
                        <a:t>Casos</a:t>
                      </a:r>
                    </a:p>
                  </a:txBody>
                  <a:tcPr marL="64008" marR="64008" marT="18288" marB="18288" anchor="ctr">
                    <a:solidFill>
                      <a:srgbClr val="142D5A"/>
                    </a:solidFill>
                  </a:tcPr>
                </a:tc>
                <a:tc>
                  <a:txBody>
                    <a:bodyPr/>
                    <a:lstStyle/>
                    <a:p>
                      <a:pPr algn="ctr">
                        <a:lnSpc>
                          <a:spcPct val="92000"/>
                        </a:lnSpc>
                      </a:pPr>
                      <a:r>
                        <a:rPr sz="700" b="1">
                          <a:solidFill>
                            <a:srgbClr val="FFFFFF"/>
                          </a:solidFill>
                          <a:latin typeface="Calibri"/>
                        </a:rPr>
                        <a:t>Porcentaje</a:t>
                      </a:r>
                    </a:p>
                  </a:txBody>
                  <a:tcPr marL="64008" marR="64008" marT="18288" marB="18288" anchor="ctr">
                    <a:solidFill>
                      <a:srgbClr val="142D5A"/>
                    </a:solidFill>
                  </a:tcPr>
                </a:tc>
              </a:tr>
              <a:tr h="196310">
                <a:tc>
                  <a:txBody>
                    <a:bodyPr/>
                    <a:lstStyle/>
                    <a:p>
                      <a:pPr algn="ctr">
                        <a:lnSpc>
                          <a:spcPct val="92000"/>
                        </a:lnSpc>
                      </a:pPr>
                      <a:r>
                        <a:rPr sz="700" b="1">
                          <a:solidFill>
                            <a:srgbClr val="142D5A"/>
                          </a:solidFill>
                          <a:latin typeface="Calibri"/>
                        </a:rPr>
                        <a:t>Alta</a:t>
                      </a:r>
                    </a:p>
                  </a:txBody>
                  <a:tcPr marL="64008" marR="64008" marT="18288" marB="18288" anchor="ctr">
                    <a:solidFill>
                      <a:srgbClr val="FFFFFF"/>
                    </a:solidFill>
                  </a:tcPr>
                </a:tc>
                <a:tc>
                  <a:txBody>
                    <a:bodyPr/>
                    <a:lstStyle/>
                    <a:p>
                      <a:pPr algn="l">
                        <a:lnSpc>
                          <a:spcPct val="92000"/>
                        </a:lnSpc>
                      </a:pPr>
                      <a:r>
                        <a:rPr sz="700" b="0">
                          <a:solidFill>
                            <a:srgbClr val="202020"/>
                          </a:solidFill>
                          <a:latin typeface="Calibri"/>
                        </a:rPr>
                        <a:t>78</a:t>
                      </a:r>
                    </a:p>
                  </a:txBody>
                  <a:tcPr marL="64008" marR="64008" marT="18288" marB="18288" anchor="ctr">
                    <a:solidFill>
                      <a:srgbClr val="FFFFFF"/>
                    </a:solidFill>
                  </a:tcPr>
                </a:tc>
                <a:tc>
                  <a:txBody>
                    <a:bodyPr/>
                    <a:lstStyle/>
                    <a:p>
                      <a:pPr algn="l">
                        <a:lnSpc>
                          <a:spcPct val="92000"/>
                        </a:lnSpc>
                      </a:pPr>
                      <a:r>
                        <a:rPr sz="700" b="0">
                          <a:solidFill>
                            <a:srgbClr val="202020"/>
                          </a:solidFill>
                          <a:latin typeface="Calibri"/>
                        </a:rPr>
                        <a:t>65.0%</a:t>
                      </a:r>
                    </a:p>
                  </a:txBody>
                  <a:tcPr marL="64008" marR="64008" marT="18288" marB="18288" anchor="ctr">
                    <a:solidFill>
                      <a:srgbClr val="FFFFFF"/>
                    </a:solidFill>
                  </a:tcPr>
                </a:tc>
              </a:tr>
              <a:tr h="196310">
                <a:tc>
                  <a:txBody>
                    <a:bodyPr/>
                    <a:lstStyle/>
                    <a:p>
                      <a:pPr algn="ctr">
                        <a:lnSpc>
                          <a:spcPct val="92000"/>
                        </a:lnSpc>
                      </a:pPr>
                      <a:r>
                        <a:rPr sz="700" b="1">
                          <a:solidFill>
                            <a:srgbClr val="142D5A"/>
                          </a:solidFill>
                          <a:latin typeface="Calibri"/>
                        </a:rPr>
                        <a:t>Media</a:t>
                      </a:r>
                    </a:p>
                  </a:txBody>
                  <a:tcPr marL="64008" marR="64008" marT="18288" marB="18288" anchor="ctr">
                    <a:solidFill>
                      <a:srgbClr val="F2F5F9"/>
                    </a:solidFill>
                  </a:tcPr>
                </a:tc>
                <a:tc>
                  <a:txBody>
                    <a:bodyPr/>
                    <a:lstStyle/>
                    <a:p>
                      <a:pPr algn="l">
                        <a:lnSpc>
                          <a:spcPct val="92000"/>
                        </a:lnSpc>
                      </a:pPr>
                      <a:r>
                        <a:rPr sz="700" b="0">
                          <a:solidFill>
                            <a:srgbClr val="202020"/>
                          </a:solidFill>
                          <a:latin typeface="Calibri"/>
                        </a:rPr>
                        <a:t>37</a:t>
                      </a:r>
                    </a:p>
                  </a:txBody>
                  <a:tcPr marL="64008" marR="64008" marT="18288" marB="18288" anchor="ctr">
                    <a:solidFill>
                      <a:srgbClr val="F2F5F9"/>
                    </a:solidFill>
                  </a:tcPr>
                </a:tc>
                <a:tc>
                  <a:txBody>
                    <a:bodyPr/>
                    <a:lstStyle/>
                    <a:p>
                      <a:pPr algn="l">
                        <a:lnSpc>
                          <a:spcPct val="92000"/>
                        </a:lnSpc>
                      </a:pPr>
                      <a:r>
                        <a:rPr sz="700" b="0">
                          <a:solidFill>
                            <a:srgbClr val="202020"/>
                          </a:solidFill>
                          <a:latin typeface="Calibri"/>
                        </a:rPr>
                        <a:t>30.8%</a:t>
                      </a:r>
                    </a:p>
                  </a:txBody>
                  <a:tcPr marL="64008" marR="64008" marT="18288" marB="18288" anchor="ctr">
                    <a:solidFill>
                      <a:srgbClr val="F2F5F9"/>
                    </a:solidFill>
                  </a:tcPr>
                </a:tc>
              </a:tr>
              <a:tr h="196310">
                <a:tc>
                  <a:txBody>
                    <a:bodyPr/>
                    <a:lstStyle/>
                    <a:p>
                      <a:pPr algn="ctr">
                        <a:lnSpc>
                          <a:spcPct val="92000"/>
                        </a:lnSpc>
                      </a:pPr>
                      <a:r>
                        <a:rPr sz="700" b="1">
                          <a:solidFill>
                            <a:srgbClr val="142D5A"/>
                          </a:solidFill>
                          <a:latin typeface="Calibri"/>
                        </a:rPr>
                        <a:t>Baja</a:t>
                      </a:r>
                    </a:p>
                  </a:txBody>
                  <a:tcPr marL="64008" marR="64008" marT="18288" marB="18288" anchor="ctr">
                    <a:solidFill>
                      <a:srgbClr val="FFFFFF"/>
                    </a:solidFill>
                  </a:tcPr>
                </a:tc>
                <a:tc>
                  <a:txBody>
                    <a:bodyPr/>
                    <a:lstStyle/>
                    <a:p>
                      <a:pPr algn="l">
                        <a:lnSpc>
                          <a:spcPct val="92000"/>
                        </a:lnSpc>
                      </a:pPr>
                      <a:r>
                        <a:rPr sz="700" b="0">
                          <a:solidFill>
                            <a:srgbClr val="202020"/>
                          </a:solidFill>
                          <a:latin typeface="Calibri"/>
                        </a:rPr>
                        <a:t>5</a:t>
                      </a:r>
                    </a:p>
                  </a:txBody>
                  <a:tcPr marL="64008" marR="64008" marT="18288" marB="18288" anchor="ctr">
                    <a:solidFill>
                      <a:srgbClr val="FFFFFF"/>
                    </a:solidFill>
                  </a:tcPr>
                </a:tc>
                <a:tc>
                  <a:txBody>
                    <a:bodyPr/>
                    <a:lstStyle/>
                    <a:p>
                      <a:pPr algn="l">
                        <a:lnSpc>
                          <a:spcPct val="92000"/>
                        </a:lnSpc>
                      </a:pPr>
                      <a:r>
                        <a:rPr sz="700" b="0">
                          <a:solidFill>
                            <a:srgbClr val="202020"/>
                          </a:solidFill>
                          <a:latin typeface="Calibri"/>
                        </a:rPr>
                        <a:t>4.2%</a:t>
                      </a:r>
                    </a:p>
                  </a:txBody>
                  <a:tcPr marL="64008" marR="64008" marT="18288" marB="18288" anchor="ctr">
                    <a:solidFill>
                      <a:srgbClr val="FFFFFF"/>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42D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146304"/>
            <a:ext cx="12191695" cy="3200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66928" y="384048"/>
            <a:ext cx="11057839" cy="566928"/>
          </a:xfrm>
          <a:prstGeom prst="rect">
            <a:avLst/>
          </a:prstGeom>
          <a:noFill/>
        </p:spPr>
        <p:txBody>
          <a:bodyPr wrap="square" anchor="t" lIns="0" rIns="0" tIns="0" bIns="0">
            <a:spAutoFit/>
          </a:bodyPr>
          <a:lstStyle/>
          <a:p>
            <a:pPr algn="l">
              <a:lnSpc>
                <a:spcPct val="90000"/>
              </a:lnSpc>
              <a:spcBef>
                <a:spcPts val="0"/>
              </a:spcBef>
              <a:spcAft>
                <a:spcPts val="0"/>
              </a:spcAft>
            </a:pPr>
            <a:r>
              <a:rPr sz="2700" b="1" i="0">
                <a:solidFill>
                  <a:srgbClr val="142D5A"/>
                </a:solidFill>
                <a:latin typeface="Calibri"/>
              </a:rPr>
              <a:t>Limitaciones</a:t>
            </a:r>
          </a:p>
        </p:txBody>
      </p:sp>
      <p:sp>
        <p:nvSpPr>
          <p:cNvPr id="5" name="Rectangle 4"/>
          <p:cNvSpPr/>
          <p:nvPr/>
        </p:nvSpPr>
        <p:spPr>
          <a:xfrm>
            <a:off x="566928" y="1115568"/>
            <a:ext cx="11057839" cy="20116"/>
          </a:xfrm>
          <a:prstGeom prst="rect">
            <a:avLst/>
          </a:prstGeom>
          <a:solidFill>
            <a:srgbClr val="C6D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6382512"/>
            <a:ext cx="10600639" cy="274320"/>
          </a:xfrm>
          <a:prstGeom prst="rect">
            <a:avLst/>
          </a:prstGeom>
          <a:noFill/>
        </p:spPr>
        <p:txBody>
          <a:bodyPr wrap="square" anchor="t" lIns="0" rIns="0" tIns="0" bIns="0">
            <a:spAutoFit/>
          </a:bodyPr>
          <a:lstStyle/>
          <a:p>
            <a:pPr algn="l">
              <a:lnSpc>
                <a:spcPct val="95000"/>
              </a:lnSpc>
              <a:spcBef>
                <a:spcPts val="0"/>
              </a:spcBef>
              <a:spcAft>
                <a:spcPts val="0"/>
              </a:spcAft>
            </a:pPr>
            <a:r>
              <a:rPr sz="850" b="0" i="0">
                <a:solidFill>
                  <a:srgbClr val="505A6B"/>
                </a:solidFill>
                <a:latin typeface="Calibri"/>
              </a:rPr>
              <a:t>UNIVERSIDAD PRIVADA DOMINGO SAVIO  ·  Sistema de Tutorias y Modalidades de Grado  ·  Grupo 7</a:t>
            </a:r>
          </a:p>
        </p:txBody>
      </p:sp>
      <p:sp>
        <p:nvSpPr>
          <p:cNvPr id="7" name="TextBox 6"/>
          <p:cNvSpPr txBox="1"/>
          <p:nvPr/>
        </p:nvSpPr>
        <p:spPr>
          <a:xfrm>
            <a:off x="11121847" y="6382512"/>
            <a:ext cx="502920" cy="274320"/>
          </a:xfrm>
          <a:prstGeom prst="rect">
            <a:avLst/>
          </a:prstGeom>
          <a:noFill/>
        </p:spPr>
        <p:txBody>
          <a:bodyPr wrap="square" anchor="t" lIns="0" rIns="0" tIns="0" bIns="0">
            <a:spAutoFit/>
          </a:bodyPr>
          <a:lstStyle/>
          <a:p>
            <a:pPr algn="r">
              <a:lnSpc>
                <a:spcPct val="95000"/>
              </a:lnSpc>
              <a:spcBef>
                <a:spcPts val="0"/>
              </a:spcBef>
              <a:spcAft>
                <a:spcPts val="0"/>
              </a:spcAft>
            </a:pPr>
            <a:r>
              <a:rPr sz="950" b="1" i="0">
                <a:solidFill>
                  <a:srgbClr val="142D5A"/>
                </a:solidFill>
                <a:latin typeface="Calibri"/>
              </a:rPr>
              <a:t>13 / 15</a:t>
            </a:r>
          </a:p>
        </p:txBody>
      </p:sp>
      <p:graphicFrame>
        <p:nvGraphicFramePr>
          <p:cNvPr id="8" name="Table 7"/>
          <p:cNvGraphicFramePr>
            <a:graphicFrameLocks noGrp="1"/>
          </p:cNvGraphicFramePr>
          <p:nvPr/>
        </p:nvGraphicFramePr>
        <p:xfrm>
          <a:off x="566928" y="1481328"/>
          <a:ext cx="11057838" cy="3497570"/>
        </p:xfrm>
        <a:graphic>
          <a:graphicData uri="http://schemas.openxmlformats.org/drawingml/2006/table">
            <a:tbl>
              <a:tblPr firstRow="1">
                <a:tableStyleId>{5C22544A-7EE6-4342-B048-85BDC9FD1C3A}</a:tableStyleId>
              </a:tblPr>
              <a:tblGrid>
                <a:gridCol w="1945360"/>
                <a:gridCol w="4095496"/>
                <a:gridCol w="5016982"/>
              </a:tblGrid>
              <a:tr h="349757">
                <a:tc>
                  <a:txBody>
                    <a:bodyPr/>
                    <a:lstStyle/>
                    <a:p>
                      <a:pPr algn="ctr">
                        <a:lnSpc>
                          <a:spcPct val="92000"/>
                        </a:lnSpc>
                      </a:pPr>
                      <a:r>
                        <a:rPr sz="1400" b="1">
                          <a:solidFill>
                            <a:srgbClr val="FFFFFF"/>
                          </a:solidFill>
                          <a:latin typeface="Calibri"/>
                        </a:rPr>
                        <a:t>Categoría</a:t>
                      </a:r>
                    </a:p>
                  </a:txBody>
                  <a:tcPr marL="64008" marR="64008" marT="18288" marB="18288" anchor="ctr">
                    <a:solidFill>
                      <a:srgbClr val="142D5A"/>
                    </a:solidFill>
                  </a:tcPr>
                </a:tc>
                <a:tc>
                  <a:txBody>
                    <a:bodyPr/>
                    <a:lstStyle/>
                    <a:p>
                      <a:pPr algn="ctr">
                        <a:lnSpc>
                          <a:spcPct val="92000"/>
                        </a:lnSpc>
                      </a:pPr>
                      <a:r>
                        <a:rPr sz="1400" b="1">
                          <a:solidFill>
                            <a:srgbClr val="FFFFFF"/>
                          </a:solidFill>
                          <a:latin typeface="Calibri"/>
                        </a:rPr>
                        <a:t>Limitación</a:t>
                      </a:r>
                    </a:p>
                  </a:txBody>
                  <a:tcPr marL="64008" marR="64008" marT="18288" marB="18288" anchor="ctr">
                    <a:solidFill>
                      <a:srgbClr val="142D5A"/>
                    </a:solidFill>
                  </a:tcPr>
                </a:tc>
                <a:tc>
                  <a:txBody>
                    <a:bodyPr/>
                    <a:lstStyle/>
                    <a:p>
                      <a:pPr algn="ctr">
                        <a:lnSpc>
                          <a:spcPct val="92000"/>
                        </a:lnSpc>
                      </a:pPr>
                      <a:r>
                        <a:rPr sz="1400" b="1">
                          <a:solidFill>
                            <a:srgbClr val="FFFFFF"/>
                          </a:solidFill>
                          <a:latin typeface="Calibri"/>
                        </a:rPr>
                        <a:t>Impacto</a:t>
                      </a:r>
                    </a:p>
                  </a:txBody>
                  <a:tcPr marL="64008" marR="64008" marT="18288" marB="18288" anchor="ctr">
                    <a:solidFill>
                      <a:srgbClr val="142D5A"/>
                    </a:solidFill>
                  </a:tcPr>
                </a:tc>
              </a:tr>
              <a:tr h="349757">
                <a:tc>
                  <a:txBody>
                    <a:bodyPr/>
                    <a:lstStyle/>
                    <a:p>
                      <a:pPr algn="ctr">
                        <a:lnSpc>
                          <a:spcPct val="92000"/>
                        </a:lnSpc>
                      </a:pPr>
                      <a:r>
                        <a:rPr sz="1400" b="1">
                          <a:solidFill>
                            <a:srgbClr val="142D5A"/>
                          </a:solidFill>
                          <a:latin typeface="Calibri"/>
                        </a:rPr>
                        <a:t>Técnica</a:t>
                      </a:r>
                    </a:p>
                  </a:txBody>
                  <a:tcPr marL="64008" marR="64008" marT="18288" marB="18288" anchor="ctr">
                    <a:solidFill>
                      <a:srgbClr val="FFFFFF"/>
                    </a:solidFill>
                  </a:tcPr>
                </a:tc>
                <a:tc>
                  <a:txBody>
                    <a:bodyPr/>
                    <a:lstStyle/>
                    <a:p>
                      <a:pPr algn="l">
                        <a:lnSpc>
                          <a:spcPct val="92000"/>
                        </a:lnSpc>
                      </a:pPr>
                      <a:r>
                        <a:rPr sz="1400" b="0">
                          <a:solidFill>
                            <a:srgbClr val="202020"/>
                          </a:solidFill>
                          <a:latin typeface="Calibri"/>
                        </a:rPr>
                        <a:t>Sin caché de aplicación</a:t>
                      </a:r>
                    </a:p>
                  </a:txBody>
                  <a:tcPr marL="64008" marR="64008" marT="18288" marB="18288" anchor="ctr">
                    <a:solidFill>
                      <a:srgbClr val="FFFFFF"/>
                    </a:solidFill>
                  </a:tcPr>
                </a:tc>
                <a:tc>
                  <a:txBody>
                    <a:bodyPr/>
                    <a:lstStyle/>
                    <a:p>
                      <a:pPr algn="l">
                        <a:lnSpc>
                          <a:spcPct val="92000"/>
                        </a:lnSpc>
                      </a:pPr>
                      <a:r>
                        <a:rPr sz="1400" b="0">
                          <a:solidFill>
                            <a:srgbClr val="202020"/>
                          </a:solidFill>
                          <a:latin typeface="Calibri"/>
                        </a:rPr>
                        <a:t>Recálculo de consultas del panel.</a:t>
                      </a:r>
                    </a:p>
                  </a:txBody>
                  <a:tcPr marL="64008" marR="64008" marT="18288" marB="18288" anchor="ctr">
                    <a:solidFill>
                      <a:srgbClr val="FFFFFF"/>
                    </a:solidFill>
                  </a:tcPr>
                </a:tc>
              </a:tr>
              <a:tr h="349757">
                <a:tc>
                  <a:txBody>
                    <a:bodyPr/>
                    <a:lstStyle/>
                    <a:p>
                      <a:pPr algn="ctr">
                        <a:lnSpc>
                          <a:spcPct val="92000"/>
                        </a:lnSpc>
                      </a:pPr>
                      <a:r>
                        <a:rPr sz="1400" b="1">
                          <a:solidFill>
                            <a:srgbClr val="142D5A"/>
                          </a:solidFill>
                          <a:latin typeface="Calibri"/>
                        </a:rPr>
                        <a:t>Técnica</a:t>
                      </a:r>
                    </a:p>
                  </a:txBody>
                  <a:tcPr marL="64008" marR="64008" marT="18288" marB="18288" anchor="ctr">
                    <a:solidFill>
                      <a:srgbClr val="F2F5F9"/>
                    </a:solidFill>
                  </a:tcPr>
                </a:tc>
                <a:tc>
                  <a:txBody>
                    <a:bodyPr/>
                    <a:lstStyle/>
                    <a:p>
                      <a:pPr algn="l">
                        <a:lnSpc>
                          <a:spcPct val="92000"/>
                        </a:lnSpc>
                      </a:pPr>
                      <a:r>
                        <a:rPr sz="1400" b="0">
                          <a:solidFill>
                            <a:srgbClr val="202020"/>
                          </a:solidFill>
                          <a:latin typeface="Calibri"/>
                        </a:rPr>
                        <a:t>Sin paginación completa</a:t>
                      </a:r>
                    </a:p>
                  </a:txBody>
                  <a:tcPr marL="64008" marR="64008" marT="18288" marB="18288" anchor="ctr">
                    <a:solidFill>
                      <a:srgbClr val="F2F5F9"/>
                    </a:solidFill>
                  </a:tcPr>
                </a:tc>
                <a:tc>
                  <a:txBody>
                    <a:bodyPr/>
                    <a:lstStyle/>
                    <a:p>
                      <a:pPr algn="l">
                        <a:lnSpc>
                          <a:spcPct val="92000"/>
                        </a:lnSpc>
                      </a:pPr>
                      <a:r>
                        <a:rPr sz="1400" b="0">
                          <a:solidFill>
                            <a:srgbClr val="202020"/>
                          </a:solidFill>
                          <a:latin typeface="Calibri"/>
                        </a:rPr>
                        <a:t>El volumen de filas crece con el uso.</a:t>
                      </a:r>
                    </a:p>
                  </a:txBody>
                  <a:tcPr marL="64008" marR="64008" marT="18288" marB="18288" anchor="ctr">
                    <a:solidFill>
                      <a:srgbClr val="F2F5F9"/>
                    </a:solidFill>
                  </a:tcPr>
                </a:tc>
              </a:tr>
              <a:tr h="349757">
                <a:tc>
                  <a:txBody>
                    <a:bodyPr/>
                    <a:lstStyle/>
                    <a:p>
                      <a:pPr algn="ctr">
                        <a:lnSpc>
                          <a:spcPct val="92000"/>
                        </a:lnSpc>
                      </a:pPr>
                      <a:r>
                        <a:rPr sz="1400" b="1">
                          <a:solidFill>
                            <a:srgbClr val="142D5A"/>
                          </a:solidFill>
                          <a:latin typeface="Calibri"/>
                        </a:rPr>
                        <a:t>Funcional</a:t>
                      </a:r>
                    </a:p>
                  </a:txBody>
                  <a:tcPr marL="64008" marR="64008" marT="18288" marB="18288" anchor="ctr">
                    <a:solidFill>
                      <a:srgbClr val="FFFFFF"/>
                    </a:solidFill>
                  </a:tcPr>
                </a:tc>
                <a:tc>
                  <a:txBody>
                    <a:bodyPr/>
                    <a:lstStyle/>
                    <a:p>
                      <a:pPr algn="l">
                        <a:lnSpc>
                          <a:spcPct val="92000"/>
                        </a:lnSpc>
                      </a:pPr>
                      <a:r>
                        <a:rPr sz="1400" b="0">
                          <a:solidFill>
                            <a:srgbClr val="202020"/>
                          </a:solidFill>
                          <a:latin typeface="Calibri"/>
                        </a:rPr>
                        <a:t>Notificaciones solo internas</a:t>
                      </a:r>
                    </a:p>
                  </a:txBody>
                  <a:tcPr marL="64008" marR="64008" marT="18288" marB="18288" anchor="ctr">
                    <a:solidFill>
                      <a:srgbClr val="FFFFFF"/>
                    </a:solidFill>
                  </a:tcPr>
                </a:tc>
                <a:tc>
                  <a:txBody>
                    <a:bodyPr/>
                    <a:lstStyle/>
                    <a:p>
                      <a:pPr algn="l">
                        <a:lnSpc>
                          <a:spcPct val="92000"/>
                        </a:lnSpc>
                      </a:pPr>
                      <a:r>
                        <a:rPr sz="1400" b="0">
                          <a:solidFill>
                            <a:srgbClr val="202020"/>
                          </a:solidFill>
                          <a:latin typeface="Calibri"/>
                        </a:rPr>
                        <a:t>El usuario debe ingresar al sistema.</a:t>
                      </a:r>
                    </a:p>
                  </a:txBody>
                  <a:tcPr marL="64008" marR="64008" marT="18288" marB="18288" anchor="ctr">
                    <a:solidFill>
                      <a:srgbClr val="FFFFFF"/>
                    </a:solidFill>
                  </a:tcPr>
                </a:tc>
              </a:tr>
              <a:tr h="349757">
                <a:tc>
                  <a:txBody>
                    <a:bodyPr/>
                    <a:lstStyle/>
                    <a:p>
                      <a:pPr algn="ctr">
                        <a:lnSpc>
                          <a:spcPct val="92000"/>
                        </a:lnSpc>
                      </a:pPr>
                      <a:r>
                        <a:rPr sz="1400" b="1">
                          <a:solidFill>
                            <a:srgbClr val="142D5A"/>
                          </a:solidFill>
                          <a:latin typeface="Calibri"/>
                        </a:rPr>
                        <a:t>Funcional</a:t>
                      </a:r>
                    </a:p>
                  </a:txBody>
                  <a:tcPr marL="64008" marR="64008" marT="18288" marB="18288" anchor="ctr">
                    <a:solidFill>
                      <a:srgbClr val="F2F5F9"/>
                    </a:solidFill>
                  </a:tcPr>
                </a:tc>
                <a:tc>
                  <a:txBody>
                    <a:bodyPr/>
                    <a:lstStyle/>
                    <a:p>
                      <a:pPr algn="l">
                        <a:lnSpc>
                          <a:spcPct val="92000"/>
                        </a:lnSpc>
                      </a:pPr>
                      <a:r>
                        <a:rPr sz="1400" b="0">
                          <a:solidFill>
                            <a:srgbClr val="202020"/>
                          </a:solidFill>
                          <a:latin typeface="Calibri"/>
                        </a:rPr>
                        <a:t>Sin generación automática de PDF</a:t>
                      </a:r>
                    </a:p>
                  </a:txBody>
                  <a:tcPr marL="64008" marR="64008" marT="18288" marB="18288" anchor="ctr">
                    <a:solidFill>
                      <a:srgbClr val="F2F5F9"/>
                    </a:solidFill>
                  </a:tcPr>
                </a:tc>
                <a:tc>
                  <a:txBody>
                    <a:bodyPr/>
                    <a:lstStyle/>
                    <a:p>
                      <a:pPr algn="l">
                        <a:lnSpc>
                          <a:spcPct val="92000"/>
                        </a:lnSpc>
                      </a:pPr>
                      <a:r>
                        <a:rPr sz="1400" b="0">
                          <a:solidFill>
                            <a:srgbClr val="202020"/>
                          </a:solidFill>
                          <a:latin typeface="Calibri"/>
                        </a:rPr>
                        <a:t>La impresión es un proceso posterior.</a:t>
                      </a:r>
                    </a:p>
                  </a:txBody>
                  <a:tcPr marL="64008" marR="64008" marT="18288" marB="18288" anchor="ctr">
                    <a:solidFill>
                      <a:srgbClr val="F2F5F9"/>
                    </a:solidFill>
                  </a:tcPr>
                </a:tc>
              </a:tr>
              <a:tr h="349757">
                <a:tc>
                  <a:txBody>
                    <a:bodyPr/>
                    <a:lstStyle/>
                    <a:p>
                      <a:pPr algn="ctr">
                        <a:lnSpc>
                          <a:spcPct val="92000"/>
                        </a:lnSpc>
                      </a:pPr>
                      <a:r>
                        <a:rPr sz="1400" b="1">
                          <a:solidFill>
                            <a:srgbClr val="142D5A"/>
                          </a:solidFill>
                          <a:latin typeface="Calibri"/>
                        </a:rPr>
                        <a:t>Operativa</a:t>
                      </a:r>
                    </a:p>
                  </a:txBody>
                  <a:tcPr marL="64008" marR="64008" marT="18288" marB="18288" anchor="ctr">
                    <a:solidFill>
                      <a:srgbClr val="FFFFFF"/>
                    </a:solidFill>
                  </a:tcPr>
                </a:tc>
                <a:tc>
                  <a:txBody>
                    <a:bodyPr/>
                    <a:lstStyle/>
                    <a:p>
                      <a:pPr algn="l">
                        <a:lnSpc>
                          <a:spcPct val="92000"/>
                        </a:lnSpc>
                      </a:pPr>
                      <a:r>
                        <a:rPr sz="1400" b="0">
                          <a:solidFill>
                            <a:srgbClr val="202020"/>
                          </a:solidFill>
                          <a:latin typeface="Calibri"/>
                        </a:rPr>
                        <a:t>Requiere Docker</a:t>
                      </a:r>
                    </a:p>
                  </a:txBody>
                  <a:tcPr marL="64008" marR="64008" marT="18288" marB="18288" anchor="ctr">
                    <a:solidFill>
                      <a:srgbClr val="FFFFFF"/>
                    </a:solidFill>
                  </a:tcPr>
                </a:tc>
                <a:tc>
                  <a:txBody>
                    <a:bodyPr/>
                    <a:lstStyle/>
                    <a:p>
                      <a:pPr algn="l">
                        <a:lnSpc>
                          <a:spcPct val="92000"/>
                        </a:lnSpc>
                      </a:pPr>
                      <a:r>
                        <a:rPr sz="1400" b="0">
                          <a:solidFill>
                            <a:srgbClr val="202020"/>
                          </a:solidFill>
                          <a:latin typeface="Calibri"/>
                        </a:rPr>
                        <a:t>Sin contenedores, la instalación es manual.</a:t>
                      </a:r>
                    </a:p>
                  </a:txBody>
                  <a:tcPr marL="64008" marR="64008" marT="18288" marB="18288" anchor="ctr">
                    <a:solidFill>
                      <a:srgbClr val="FFFFFF"/>
                    </a:solidFill>
                  </a:tcPr>
                </a:tc>
              </a:tr>
              <a:tr h="349757">
                <a:tc>
                  <a:txBody>
                    <a:bodyPr/>
                    <a:lstStyle/>
                    <a:p>
                      <a:pPr algn="ctr">
                        <a:lnSpc>
                          <a:spcPct val="92000"/>
                        </a:lnSpc>
                      </a:pPr>
                      <a:r>
                        <a:rPr sz="1400" b="1">
                          <a:solidFill>
                            <a:srgbClr val="142D5A"/>
                          </a:solidFill>
                          <a:latin typeface="Calibri"/>
                        </a:rPr>
                        <a:t>Seguridad</a:t>
                      </a:r>
                    </a:p>
                  </a:txBody>
                  <a:tcPr marL="64008" marR="64008" marT="18288" marB="18288" anchor="ctr">
                    <a:solidFill>
                      <a:srgbClr val="F2F5F9"/>
                    </a:solidFill>
                  </a:tcPr>
                </a:tc>
                <a:tc>
                  <a:txBody>
                    <a:bodyPr/>
                    <a:lstStyle/>
                    <a:p>
                      <a:pPr algn="l">
                        <a:lnSpc>
                          <a:spcPct val="92000"/>
                        </a:lnSpc>
                      </a:pPr>
                      <a:r>
                        <a:rPr sz="1400" b="0">
                          <a:solidFill>
                            <a:srgbClr val="202020"/>
                          </a:solidFill>
                          <a:latin typeface="Calibri"/>
                        </a:rPr>
                        <a:t>Sin cifrado de datos en reposo</a:t>
                      </a:r>
                    </a:p>
                  </a:txBody>
                  <a:tcPr marL="64008" marR="64008" marT="18288" marB="18288" anchor="ctr">
                    <a:solidFill>
                      <a:srgbClr val="F2F5F9"/>
                    </a:solidFill>
                  </a:tcPr>
                </a:tc>
                <a:tc>
                  <a:txBody>
                    <a:bodyPr/>
                    <a:lstStyle/>
                    <a:p>
                      <a:pPr algn="l">
                        <a:lnSpc>
                          <a:spcPct val="92000"/>
                        </a:lnSpc>
                      </a:pPr>
                      <a:r>
                        <a:rPr sz="1400" b="0">
                          <a:solidFill>
                            <a:srgbClr val="202020"/>
                          </a:solidFill>
                          <a:latin typeface="Calibri"/>
                        </a:rPr>
                        <a:t>Los datos se almacenan sin cifrar.</a:t>
                      </a:r>
                    </a:p>
                  </a:txBody>
                  <a:tcPr marL="64008" marR="64008" marT="18288" marB="18288" anchor="ctr">
                    <a:solidFill>
                      <a:srgbClr val="F2F5F9"/>
                    </a:solidFill>
                  </a:tcPr>
                </a:tc>
              </a:tr>
              <a:tr h="349757">
                <a:tc>
                  <a:txBody>
                    <a:bodyPr/>
                    <a:lstStyle/>
                    <a:p>
                      <a:pPr algn="ctr">
                        <a:lnSpc>
                          <a:spcPct val="92000"/>
                        </a:lnSpc>
                      </a:pPr>
                      <a:r>
                        <a:rPr sz="1400" b="1">
                          <a:solidFill>
                            <a:srgbClr val="142D5A"/>
                          </a:solidFill>
                          <a:latin typeface="Calibri"/>
                        </a:rPr>
                        <a:t>Seguridad</a:t>
                      </a:r>
                    </a:p>
                  </a:txBody>
                  <a:tcPr marL="64008" marR="64008" marT="18288" marB="18288" anchor="ctr">
                    <a:solidFill>
                      <a:srgbClr val="FFFFFF"/>
                    </a:solidFill>
                  </a:tcPr>
                </a:tc>
                <a:tc>
                  <a:txBody>
                    <a:bodyPr/>
                    <a:lstStyle/>
                    <a:p>
                      <a:pPr algn="l">
                        <a:lnSpc>
                          <a:spcPct val="92000"/>
                        </a:lnSpc>
                      </a:pPr>
                      <a:r>
                        <a:rPr sz="1400" b="0">
                          <a:solidFill>
                            <a:srgbClr val="202020"/>
                          </a:solidFill>
                          <a:latin typeface="Calibri"/>
                        </a:rPr>
                        <a:t>Sin segundo factor de autenticación</a:t>
                      </a:r>
                    </a:p>
                  </a:txBody>
                  <a:tcPr marL="64008" marR="64008" marT="18288" marB="18288" anchor="ctr">
                    <a:solidFill>
                      <a:srgbClr val="FFFFFF"/>
                    </a:solidFill>
                  </a:tcPr>
                </a:tc>
                <a:tc>
                  <a:txBody>
                    <a:bodyPr/>
                    <a:lstStyle/>
                    <a:p>
                      <a:pPr algn="l">
                        <a:lnSpc>
                          <a:spcPct val="92000"/>
                        </a:lnSpc>
                      </a:pPr>
                      <a:r>
                        <a:rPr sz="1400" b="0">
                          <a:solidFill>
                            <a:srgbClr val="202020"/>
                          </a:solidFill>
                          <a:latin typeface="Calibri"/>
                        </a:rPr>
                        <a:t>El acceso depende del par usuario-contraseña.</a:t>
                      </a:r>
                    </a:p>
                  </a:txBody>
                  <a:tcPr marL="64008" marR="64008" marT="18288" marB="18288" anchor="ctr">
                    <a:solidFill>
                      <a:srgbClr val="FFFFFF"/>
                    </a:solidFill>
                  </a:tcPr>
                </a:tc>
              </a:tr>
              <a:tr h="349757">
                <a:tc>
                  <a:txBody>
                    <a:bodyPr/>
                    <a:lstStyle/>
                    <a:p>
                      <a:pPr algn="ctr">
                        <a:lnSpc>
                          <a:spcPct val="92000"/>
                        </a:lnSpc>
                      </a:pPr>
                      <a:r>
                        <a:rPr sz="1400" b="1">
                          <a:solidFill>
                            <a:srgbClr val="142D5A"/>
                          </a:solidFill>
                          <a:latin typeface="Calibri"/>
                        </a:rPr>
                        <a:t>Infraestructura</a:t>
                      </a:r>
                    </a:p>
                  </a:txBody>
                  <a:tcPr marL="64008" marR="64008" marT="18288" marB="18288" anchor="ctr">
                    <a:solidFill>
                      <a:srgbClr val="F2F5F9"/>
                    </a:solidFill>
                  </a:tcPr>
                </a:tc>
                <a:tc>
                  <a:txBody>
                    <a:bodyPr/>
                    <a:lstStyle/>
                    <a:p>
                      <a:pPr algn="l">
                        <a:lnSpc>
                          <a:spcPct val="92000"/>
                        </a:lnSpc>
                      </a:pPr>
                      <a:r>
                        <a:rPr sz="1400" b="0">
                          <a:solidFill>
                            <a:srgbClr val="202020"/>
                          </a:solidFill>
                          <a:latin typeface="Calibri"/>
                        </a:rPr>
                        <a:t>Base de datos en un único contenedor</a:t>
                      </a:r>
                    </a:p>
                  </a:txBody>
                  <a:tcPr marL="64008" marR="64008" marT="18288" marB="18288" anchor="ctr">
                    <a:solidFill>
                      <a:srgbClr val="F2F5F9"/>
                    </a:solidFill>
                  </a:tcPr>
                </a:tc>
                <a:tc>
                  <a:txBody>
                    <a:bodyPr/>
                    <a:lstStyle/>
                    <a:p>
                      <a:pPr algn="l">
                        <a:lnSpc>
                          <a:spcPct val="92000"/>
                        </a:lnSpc>
                      </a:pPr>
                      <a:r>
                        <a:rPr sz="1400" b="0">
                          <a:solidFill>
                            <a:srgbClr val="202020"/>
                          </a:solidFill>
                          <a:latin typeface="Calibri"/>
                        </a:rPr>
                        <a:t>La caída del contenedor detiene el sistema.</a:t>
                      </a:r>
                    </a:p>
                  </a:txBody>
                  <a:tcPr marL="64008" marR="64008" marT="18288" marB="18288" anchor="ctr">
                    <a:solidFill>
                      <a:srgbClr val="F2F5F9"/>
                    </a:solidFill>
                  </a:tcPr>
                </a:tc>
              </a:tr>
              <a:tr h="349757">
                <a:tc>
                  <a:txBody>
                    <a:bodyPr/>
                    <a:lstStyle/>
                    <a:p>
                      <a:pPr algn="ctr">
                        <a:lnSpc>
                          <a:spcPct val="92000"/>
                        </a:lnSpc>
                      </a:pPr>
                      <a:r>
                        <a:rPr sz="1400" b="1">
                          <a:solidFill>
                            <a:srgbClr val="142D5A"/>
                          </a:solidFill>
                          <a:latin typeface="Calibri"/>
                        </a:rPr>
                        <a:t>Alcance</a:t>
                      </a:r>
                    </a:p>
                  </a:txBody>
                  <a:tcPr marL="64008" marR="64008" marT="18288" marB="18288" anchor="ctr">
                    <a:solidFill>
                      <a:srgbClr val="FFFFFF"/>
                    </a:solidFill>
                  </a:tcPr>
                </a:tc>
                <a:tc>
                  <a:txBody>
                    <a:bodyPr/>
                    <a:lstStyle/>
                    <a:p>
                      <a:pPr algn="l">
                        <a:lnSpc>
                          <a:spcPct val="92000"/>
                        </a:lnSpc>
                      </a:pPr>
                      <a:r>
                        <a:rPr sz="1400" b="0">
                          <a:solidFill>
                            <a:srgbClr val="202020"/>
                          </a:solidFill>
                          <a:latin typeface="Calibri"/>
                        </a:rPr>
                        <a:t>No incluye matrícula ni facturación</a:t>
                      </a:r>
                    </a:p>
                  </a:txBody>
                  <a:tcPr marL="64008" marR="64008" marT="18288" marB="18288" anchor="ctr">
                    <a:solidFill>
                      <a:srgbClr val="FFFFFF"/>
                    </a:solidFill>
                  </a:tcPr>
                </a:tc>
                <a:tc>
                  <a:txBody>
                    <a:bodyPr/>
                    <a:lstStyle/>
                    <a:p>
                      <a:pPr algn="l">
                        <a:lnSpc>
                          <a:spcPct val="92000"/>
                        </a:lnSpc>
                      </a:pPr>
                      <a:r>
                        <a:rPr sz="1400" b="0">
                          <a:solidFill>
                            <a:srgbClr val="202020"/>
                          </a:solidFill>
                          <a:latin typeface="Calibri"/>
                        </a:rPr>
                        <a:t>Fuera del objetivo del proyecto.</a:t>
                      </a:r>
                    </a:p>
                  </a:txBody>
                  <a:tcPr marL="64008" marR="64008" marT="18288" marB="18288" anchor="ctr">
                    <a:solidFill>
                      <a:srgbClr val="FFFFFF"/>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42D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146304"/>
            <a:ext cx="12191695" cy="3200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66928" y="384048"/>
            <a:ext cx="11057839" cy="566928"/>
          </a:xfrm>
          <a:prstGeom prst="rect">
            <a:avLst/>
          </a:prstGeom>
          <a:noFill/>
        </p:spPr>
        <p:txBody>
          <a:bodyPr wrap="square" anchor="t" lIns="0" rIns="0" tIns="0" bIns="0">
            <a:spAutoFit/>
          </a:bodyPr>
          <a:lstStyle/>
          <a:p>
            <a:pPr algn="l">
              <a:lnSpc>
                <a:spcPct val="90000"/>
              </a:lnSpc>
              <a:spcBef>
                <a:spcPts val="0"/>
              </a:spcBef>
              <a:spcAft>
                <a:spcPts val="0"/>
              </a:spcAft>
            </a:pPr>
            <a:r>
              <a:rPr sz="2700" b="1" i="0">
                <a:solidFill>
                  <a:srgbClr val="142D5A"/>
                </a:solidFill>
                <a:latin typeface="Calibri"/>
              </a:rPr>
              <a:t>Trabajo futuro</a:t>
            </a:r>
          </a:p>
        </p:txBody>
      </p:sp>
      <p:sp>
        <p:nvSpPr>
          <p:cNvPr id="5" name="Rectangle 4"/>
          <p:cNvSpPr/>
          <p:nvPr/>
        </p:nvSpPr>
        <p:spPr>
          <a:xfrm>
            <a:off x="566928" y="1115568"/>
            <a:ext cx="11057839" cy="20116"/>
          </a:xfrm>
          <a:prstGeom prst="rect">
            <a:avLst/>
          </a:prstGeom>
          <a:solidFill>
            <a:srgbClr val="C6D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6382512"/>
            <a:ext cx="10600639" cy="274320"/>
          </a:xfrm>
          <a:prstGeom prst="rect">
            <a:avLst/>
          </a:prstGeom>
          <a:noFill/>
        </p:spPr>
        <p:txBody>
          <a:bodyPr wrap="square" anchor="t" lIns="0" rIns="0" tIns="0" bIns="0">
            <a:spAutoFit/>
          </a:bodyPr>
          <a:lstStyle/>
          <a:p>
            <a:pPr algn="l">
              <a:lnSpc>
                <a:spcPct val="95000"/>
              </a:lnSpc>
              <a:spcBef>
                <a:spcPts val="0"/>
              </a:spcBef>
              <a:spcAft>
                <a:spcPts val="0"/>
              </a:spcAft>
            </a:pPr>
            <a:r>
              <a:rPr sz="850" b="0" i="0">
                <a:solidFill>
                  <a:srgbClr val="505A6B"/>
                </a:solidFill>
                <a:latin typeface="Calibri"/>
              </a:rPr>
              <a:t>UNIVERSIDAD PRIVADA DOMINGO SAVIO  ·  Sistema de Tutorias y Modalidades de Grado  ·  Grupo 7</a:t>
            </a:r>
          </a:p>
        </p:txBody>
      </p:sp>
      <p:sp>
        <p:nvSpPr>
          <p:cNvPr id="7" name="TextBox 6"/>
          <p:cNvSpPr txBox="1"/>
          <p:nvPr/>
        </p:nvSpPr>
        <p:spPr>
          <a:xfrm>
            <a:off x="11121847" y="6382512"/>
            <a:ext cx="502920" cy="274320"/>
          </a:xfrm>
          <a:prstGeom prst="rect">
            <a:avLst/>
          </a:prstGeom>
          <a:noFill/>
        </p:spPr>
        <p:txBody>
          <a:bodyPr wrap="square" anchor="t" lIns="0" rIns="0" tIns="0" bIns="0">
            <a:spAutoFit/>
          </a:bodyPr>
          <a:lstStyle/>
          <a:p>
            <a:pPr algn="r">
              <a:lnSpc>
                <a:spcPct val="95000"/>
              </a:lnSpc>
              <a:spcBef>
                <a:spcPts val="0"/>
              </a:spcBef>
              <a:spcAft>
                <a:spcPts val="0"/>
              </a:spcAft>
            </a:pPr>
            <a:r>
              <a:rPr sz="950" b="1" i="0">
                <a:solidFill>
                  <a:srgbClr val="142D5A"/>
                </a:solidFill>
                <a:latin typeface="Calibri"/>
              </a:rPr>
              <a:t>14 / 15</a:t>
            </a:r>
          </a:p>
        </p:txBody>
      </p:sp>
      <p:pic>
        <p:nvPicPr>
          <p:cNvPr id="8" name="Picture 7" descr="Presentacion_Defensa_01.png"/>
          <p:cNvPicPr>
            <a:picLocks noChangeAspect="1"/>
          </p:cNvPicPr>
          <p:nvPr/>
        </p:nvPicPr>
        <p:blipFill>
          <a:blip r:embed="rId2"/>
          <a:stretch>
            <a:fillRect/>
          </a:stretch>
        </p:blipFill>
        <p:spPr>
          <a:xfrm>
            <a:off x="4988062" y="1481328"/>
            <a:ext cx="2215570" cy="4590288"/>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42D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146304"/>
            <a:ext cx="12191695" cy="3200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66928" y="384048"/>
            <a:ext cx="11057839" cy="566928"/>
          </a:xfrm>
          <a:prstGeom prst="rect">
            <a:avLst/>
          </a:prstGeom>
          <a:noFill/>
        </p:spPr>
        <p:txBody>
          <a:bodyPr wrap="square" anchor="t" lIns="0" rIns="0" tIns="0" bIns="0">
            <a:spAutoFit/>
          </a:bodyPr>
          <a:lstStyle/>
          <a:p>
            <a:pPr algn="l">
              <a:lnSpc>
                <a:spcPct val="90000"/>
              </a:lnSpc>
              <a:spcBef>
                <a:spcPts val="0"/>
              </a:spcBef>
              <a:spcAft>
                <a:spcPts val="0"/>
              </a:spcAft>
            </a:pPr>
            <a:r>
              <a:rPr sz="2700" b="1" i="0">
                <a:solidFill>
                  <a:srgbClr val="142D5A"/>
                </a:solidFill>
                <a:latin typeface="Calibri"/>
              </a:rPr>
              <a:t>Conclusiones</a:t>
            </a:r>
          </a:p>
        </p:txBody>
      </p:sp>
      <p:sp>
        <p:nvSpPr>
          <p:cNvPr id="5" name="Rectangle 4"/>
          <p:cNvSpPr/>
          <p:nvPr/>
        </p:nvSpPr>
        <p:spPr>
          <a:xfrm>
            <a:off x="566928" y="1115568"/>
            <a:ext cx="11057839" cy="20116"/>
          </a:xfrm>
          <a:prstGeom prst="rect">
            <a:avLst/>
          </a:prstGeom>
          <a:solidFill>
            <a:srgbClr val="C6D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6382512"/>
            <a:ext cx="10600639" cy="274320"/>
          </a:xfrm>
          <a:prstGeom prst="rect">
            <a:avLst/>
          </a:prstGeom>
          <a:noFill/>
        </p:spPr>
        <p:txBody>
          <a:bodyPr wrap="square" anchor="t" lIns="0" rIns="0" tIns="0" bIns="0">
            <a:spAutoFit/>
          </a:bodyPr>
          <a:lstStyle/>
          <a:p>
            <a:pPr algn="l">
              <a:lnSpc>
                <a:spcPct val="95000"/>
              </a:lnSpc>
              <a:spcBef>
                <a:spcPts val="0"/>
              </a:spcBef>
              <a:spcAft>
                <a:spcPts val="0"/>
              </a:spcAft>
            </a:pPr>
            <a:r>
              <a:rPr sz="850" b="0" i="0">
                <a:solidFill>
                  <a:srgbClr val="505A6B"/>
                </a:solidFill>
                <a:latin typeface="Calibri"/>
              </a:rPr>
              <a:t>UNIVERSIDAD PRIVADA DOMINGO SAVIO  ·  Sistema de Tutorias y Modalidades de Grado  ·  Grupo 7</a:t>
            </a:r>
          </a:p>
        </p:txBody>
      </p:sp>
      <p:sp>
        <p:nvSpPr>
          <p:cNvPr id="7" name="TextBox 6"/>
          <p:cNvSpPr txBox="1"/>
          <p:nvPr/>
        </p:nvSpPr>
        <p:spPr>
          <a:xfrm>
            <a:off x="11121847" y="6382512"/>
            <a:ext cx="502920" cy="274320"/>
          </a:xfrm>
          <a:prstGeom prst="rect">
            <a:avLst/>
          </a:prstGeom>
          <a:noFill/>
        </p:spPr>
        <p:txBody>
          <a:bodyPr wrap="square" anchor="t" lIns="0" rIns="0" tIns="0" bIns="0">
            <a:spAutoFit/>
          </a:bodyPr>
          <a:lstStyle/>
          <a:p>
            <a:pPr algn="r">
              <a:lnSpc>
                <a:spcPct val="95000"/>
              </a:lnSpc>
              <a:spcBef>
                <a:spcPts val="0"/>
              </a:spcBef>
              <a:spcAft>
                <a:spcPts val="0"/>
              </a:spcAft>
            </a:pPr>
            <a:r>
              <a:rPr sz="950" b="1" i="0">
                <a:solidFill>
                  <a:srgbClr val="142D5A"/>
                </a:solidFill>
                <a:latin typeface="Calibri"/>
              </a:rPr>
              <a:t>15 / 15</a:t>
            </a:r>
          </a:p>
        </p:txBody>
      </p:sp>
      <p:sp>
        <p:nvSpPr>
          <p:cNvPr id="8" name="Rectangle 7"/>
          <p:cNvSpPr/>
          <p:nvPr/>
        </p:nvSpPr>
        <p:spPr>
          <a:xfrm>
            <a:off x="566928" y="1481328"/>
            <a:ext cx="5323179" cy="25603"/>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66928" y="1545336"/>
            <a:ext cx="5323179" cy="237744"/>
          </a:xfrm>
          <a:prstGeom prst="rect">
            <a:avLst/>
          </a:prstGeom>
          <a:noFill/>
        </p:spPr>
        <p:txBody>
          <a:bodyPr wrap="square" anchor="t" lIns="0" rIns="0" tIns="0" bIns="0">
            <a:spAutoFit/>
          </a:bodyPr>
          <a:lstStyle/>
          <a:p>
            <a:pPr algn="l">
              <a:lnSpc>
                <a:spcPct val="95000"/>
              </a:lnSpc>
              <a:spcBef>
                <a:spcPts val="0"/>
              </a:spcBef>
              <a:spcAft>
                <a:spcPts val="0"/>
              </a:spcAft>
            </a:pPr>
            <a:r>
              <a:rPr sz="1150" b="1" i="0">
                <a:solidFill>
                  <a:srgbClr val="142D5A"/>
                </a:solidFill>
                <a:latin typeface="Calibri"/>
              </a:rPr>
              <a:t>RESULTADOS OBTENIDOS</a:t>
            </a:r>
          </a:p>
        </p:txBody>
      </p:sp>
      <p:sp>
        <p:nvSpPr>
          <p:cNvPr id="10" name="TextBox 9"/>
          <p:cNvSpPr txBox="1"/>
          <p:nvPr/>
        </p:nvSpPr>
        <p:spPr>
          <a:xfrm>
            <a:off x="566928" y="1810512"/>
            <a:ext cx="5323179" cy="3427374"/>
          </a:xfrm>
          <a:prstGeom prst="rect">
            <a:avLst/>
          </a:prstGeom>
          <a:noFill/>
        </p:spPr>
        <p:txBody>
          <a:bodyPr wrap="square" anchor="t" lIns="0" rIns="0" tIns="0" bIns="0">
            <a:spAutoFit/>
          </a:bodyPr>
          <a:lstStyle/>
          <a:p>
            <a:pPr algn="l">
              <a:lnSpc>
                <a:spcPct val="95000"/>
              </a:lnSpc>
              <a:spcBef>
                <a:spcPts val="0"/>
              </a:spcBef>
              <a:spcAft>
                <a:spcPts val="300"/>
              </a:spcAft>
            </a:pPr>
            <a:r>
              <a:rPr sz="1600" b="0" i="0">
                <a:solidFill>
                  <a:srgbClr val="252525"/>
                </a:solidFill>
                <a:latin typeface="Calibri"/>
              </a:rPr>
              <a:t>▪  ✅ Sistema completo con dos módulos funcionales: tutorías y modalidades de grado.</a:t>
            </a:r>
          </a:p>
          <a:p>
            <a:pPr algn="l">
              <a:lnSpc>
                <a:spcPct val="95000"/>
              </a:lnSpc>
              <a:spcBef>
                <a:spcPts val="0"/>
              </a:spcBef>
              <a:spcAft>
                <a:spcPts val="300"/>
              </a:spcAft>
            </a:pPr>
            <a:r>
              <a:rPr sz="1600" b="0" i="0">
                <a:solidFill>
                  <a:srgbClr val="252525"/>
                </a:solidFill>
                <a:latin typeface="Calibri"/>
              </a:rPr>
              <a:t>▪  ✅ Cinco roles con matriz de permisos diferenciada.</a:t>
            </a:r>
          </a:p>
          <a:p>
            <a:pPr algn="l">
              <a:lnSpc>
                <a:spcPct val="95000"/>
              </a:lnSpc>
              <a:spcBef>
                <a:spcPts val="0"/>
              </a:spcBef>
              <a:spcAft>
                <a:spcPts val="300"/>
              </a:spcAft>
            </a:pPr>
            <a:r>
              <a:rPr sz="1600" b="0" i="0">
                <a:solidFill>
                  <a:srgbClr val="252525"/>
                </a:solidFill>
                <a:latin typeface="Calibri"/>
              </a:rPr>
              <a:t>▪  ✅ 33 tablas con integridad garantizada en el motor de base de datos.</a:t>
            </a:r>
          </a:p>
          <a:p>
            <a:pPr algn="l">
              <a:lnSpc>
                <a:spcPct val="95000"/>
              </a:lnSpc>
              <a:spcBef>
                <a:spcPts val="0"/>
              </a:spcBef>
              <a:spcAft>
                <a:spcPts val="300"/>
              </a:spcAft>
            </a:pPr>
            <a:r>
              <a:rPr sz="1600" b="0" i="0">
                <a:solidFill>
                  <a:srgbClr val="252525"/>
                </a:solidFill>
                <a:latin typeface="Calibri"/>
              </a:rPr>
              <a:t>▪  ✅ 24 controles de seguridad implementados.</a:t>
            </a:r>
          </a:p>
          <a:p>
            <a:pPr algn="l">
              <a:lnSpc>
                <a:spcPct val="95000"/>
              </a:lnSpc>
              <a:spcBef>
                <a:spcPts val="0"/>
              </a:spcBef>
              <a:spcAft>
                <a:spcPts val="300"/>
              </a:spcAft>
            </a:pPr>
            <a:r>
              <a:rPr sz="1600" b="0" i="0">
                <a:solidFill>
                  <a:srgbClr val="252525"/>
                </a:solidFill>
                <a:latin typeface="Calibri"/>
              </a:rPr>
              <a:t>▪  ✅ 83 requisitos funcionales y 43 no funcionales especificados.</a:t>
            </a:r>
          </a:p>
          <a:p>
            <a:pPr algn="l">
              <a:lnSpc>
                <a:spcPct val="95000"/>
              </a:lnSpc>
              <a:spcBef>
                <a:spcPts val="0"/>
              </a:spcBef>
              <a:spcAft>
                <a:spcPts val="300"/>
              </a:spcAft>
            </a:pPr>
            <a:r>
              <a:rPr sz="1600" b="0" i="0">
                <a:solidFill>
                  <a:srgbClr val="252525"/>
                </a:solidFill>
                <a:latin typeface="Calibri"/>
              </a:rPr>
              <a:t>▪  ✅ 120 casos de prueba con trazabilidad a requisitos.</a:t>
            </a:r>
          </a:p>
          <a:p>
            <a:pPr algn="l">
              <a:lnSpc>
                <a:spcPct val="95000"/>
              </a:lnSpc>
              <a:spcBef>
                <a:spcPts val="0"/>
              </a:spcBef>
              <a:spcAft>
                <a:spcPts val="300"/>
              </a:spcAft>
            </a:pPr>
            <a:r>
              <a:rPr sz="1600" b="0" i="0">
                <a:solidFill>
                  <a:srgbClr val="252525"/>
                </a:solidFill>
                <a:latin typeface="Calibri"/>
              </a:rPr>
              <a:t>▪  ✅ 12 documentos técnicos y de usuario.</a:t>
            </a:r>
          </a:p>
          <a:p>
            <a:pPr algn="l">
              <a:lnSpc>
                <a:spcPct val="95000"/>
              </a:lnSpc>
              <a:spcBef>
                <a:spcPts val="0"/>
              </a:spcBef>
              <a:spcAft>
                <a:spcPts val="300"/>
              </a:spcAft>
            </a:pPr>
            <a:r>
              <a:rPr sz="1600" b="0" i="0">
                <a:solidFill>
                  <a:srgbClr val="252525"/>
                </a:solidFill>
                <a:latin typeface="Calibri"/>
              </a:rPr>
              <a:t>▪  ✅ Despliegue reproducible con Docker Compose.</a:t>
            </a:r>
          </a:p>
        </p:txBody>
      </p:sp>
      <p:sp>
        <p:nvSpPr>
          <p:cNvPr id="11" name="Rectangle 10"/>
          <p:cNvSpPr/>
          <p:nvPr/>
        </p:nvSpPr>
        <p:spPr>
          <a:xfrm>
            <a:off x="566928" y="5347614"/>
            <a:ext cx="5323179" cy="25603"/>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66928" y="5411622"/>
            <a:ext cx="5323179" cy="237744"/>
          </a:xfrm>
          <a:prstGeom prst="rect">
            <a:avLst/>
          </a:prstGeom>
          <a:noFill/>
        </p:spPr>
        <p:txBody>
          <a:bodyPr wrap="square" anchor="t" lIns="0" rIns="0" tIns="0" bIns="0">
            <a:spAutoFit/>
          </a:bodyPr>
          <a:lstStyle/>
          <a:p>
            <a:pPr algn="l">
              <a:lnSpc>
                <a:spcPct val="95000"/>
              </a:lnSpc>
              <a:spcBef>
                <a:spcPts val="0"/>
              </a:spcBef>
              <a:spcAft>
                <a:spcPts val="0"/>
              </a:spcAft>
            </a:pPr>
            <a:r>
              <a:rPr sz="1150" b="1" i="0">
                <a:solidFill>
                  <a:srgbClr val="142D5A"/>
                </a:solidFill>
                <a:latin typeface="Calibri"/>
              </a:rPr>
              <a:t>CONCLUSIONES FINALES</a:t>
            </a:r>
          </a:p>
        </p:txBody>
      </p:sp>
      <p:sp>
        <p:nvSpPr>
          <p:cNvPr id="13" name="Rectangle 12"/>
          <p:cNvSpPr/>
          <p:nvPr/>
        </p:nvSpPr>
        <p:spPr>
          <a:xfrm>
            <a:off x="6301587" y="1481328"/>
            <a:ext cx="41148" cy="2383002"/>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6179" y="1481328"/>
            <a:ext cx="5158587" cy="2383002"/>
          </a:xfrm>
          <a:prstGeom prst="rect">
            <a:avLst/>
          </a:prstGeom>
          <a:noFill/>
        </p:spPr>
        <p:txBody>
          <a:bodyPr wrap="square" anchor="t" lIns="0" rIns="0" tIns="0" bIns="0">
            <a:spAutoFit/>
          </a:bodyPr>
          <a:lstStyle/>
          <a:p>
            <a:pPr algn="just">
              <a:lnSpc>
                <a:spcPct val="102000"/>
              </a:lnSpc>
              <a:spcBef>
                <a:spcPts val="0"/>
              </a:spcBef>
              <a:spcAft>
                <a:spcPts val="0"/>
              </a:spcAft>
            </a:pPr>
            <a:r>
              <a:rPr sz="1450" b="0" i="1">
                <a:solidFill>
                  <a:srgbClr val="142D5A"/>
                </a:solidFill>
                <a:latin typeface="Calibri"/>
              </a:rPr>
              <a:t>«El sistema cumple los objetivos propuestos. La restricción de no usar frameworks PHP constituyó el mayor desafío técnico, pero se convirtió en la principal fuente de aprendizaje: permitió comprender el ciclo completo de una petición HTTP, la estructura del patrón MVC y los mecanismos de protección del lenguaje. El resultado es un sistema funcional, seguro, documentado y desplegable, capaz de responder a las necesidades de los cinco roles que participan en los procesos de tutoría y modalidades de grado.»</a:t>
            </a:r>
          </a:p>
        </p:txBody>
      </p:sp>
      <p:sp>
        <p:nvSpPr>
          <p:cNvPr id="15" name="Rectangle 14"/>
          <p:cNvSpPr/>
          <p:nvPr/>
        </p:nvSpPr>
        <p:spPr>
          <a:xfrm>
            <a:off x="6301587" y="3992346"/>
            <a:ext cx="5323179" cy="25603"/>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301587" y="4056354"/>
            <a:ext cx="5323179" cy="237744"/>
          </a:xfrm>
          <a:prstGeom prst="rect">
            <a:avLst/>
          </a:prstGeom>
          <a:noFill/>
        </p:spPr>
        <p:txBody>
          <a:bodyPr wrap="square" anchor="t" lIns="0" rIns="0" tIns="0" bIns="0">
            <a:spAutoFit/>
          </a:bodyPr>
          <a:lstStyle/>
          <a:p>
            <a:pPr algn="l">
              <a:lnSpc>
                <a:spcPct val="95000"/>
              </a:lnSpc>
              <a:spcBef>
                <a:spcPts val="0"/>
              </a:spcBef>
              <a:spcAft>
                <a:spcPts val="0"/>
              </a:spcAft>
            </a:pPr>
            <a:r>
              <a:rPr sz="1150" b="1" i="0">
                <a:solidFill>
                  <a:srgbClr val="142D5A"/>
                </a:solidFill>
                <a:latin typeface="Calibri"/>
              </a:rPr>
              <a:t>CIERRE</a:t>
            </a:r>
          </a:p>
        </p:txBody>
      </p:sp>
      <p:sp>
        <p:nvSpPr>
          <p:cNvPr id="17" name="TextBox 16"/>
          <p:cNvSpPr txBox="1"/>
          <p:nvPr/>
        </p:nvSpPr>
        <p:spPr>
          <a:xfrm>
            <a:off x="6301587" y="4321530"/>
            <a:ext cx="5323179" cy="843686"/>
          </a:xfrm>
          <a:prstGeom prst="rect">
            <a:avLst/>
          </a:prstGeom>
          <a:noFill/>
        </p:spPr>
        <p:txBody>
          <a:bodyPr wrap="square" anchor="t" lIns="0" rIns="0" tIns="0" bIns="0">
            <a:spAutoFit/>
          </a:bodyPr>
          <a:lstStyle/>
          <a:p>
            <a:pPr algn="l">
              <a:lnSpc>
                <a:spcPct val="95000"/>
              </a:lnSpc>
              <a:spcBef>
                <a:spcPts val="0"/>
              </a:spcBef>
              <a:spcAft>
                <a:spcPts val="300"/>
              </a:spcAft>
            </a:pPr>
            <a:r>
              <a:rPr sz="1600" b="0" i="0">
                <a:solidFill>
                  <a:srgbClr val="252525"/>
                </a:solidFill>
                <a:latin typeface="Calibri"/>
              </a:rPr>
              <a:t>▪  Preguntas y respuestas</a:t>
            </a:r>
          </a:p>
          <a:p>
            <a:pPr algn="l">
              <a:lnSpc>
                <a:spcPct val="95000"/>
              </a:lnSpc>
              <a:spcBef>
                <a:spcPts val="0"/>
              </a:spcBef>
              <a:spcAft>
                <a:spcPts val="300"/>
              </a:spcAft>
            </a:pPr>
            <a:r>
              <a:rPr sz="1600" b="0" i="0">
                <a:solidFill>
                  <a:srgbClr val="252525"/>
                </a:solidFill>
                <a:latin typeface="Calibri"/>
              </a:rPr>
              <a:t>▪  Contacto</a:t>
            </a:r>
          </a:p>
          <a:p>
            <a:pPr algn="l">
              <a:lnSpc>
                <a:spcPct val="95000"/>
              </a:lnSpc>
              <a:spcBef>
                <a:spcPts val="0"/>
              </a:spcBef>
              <a:spcAft>
                <a:spcPts val="300"/>
              </a:spcAft>
            </a:pPr>
            <a:r>
              <a:rPr sz="1600" b="0" i="0">
                <a:solidFill>
                  <a:srgbClr val="252525"/>
                </a:solidFill>
                <a:latin typeface="Calibri"/>
              </a:rPr>
              <a:t>▪  Demostración del sistema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Presentacion de Defensa - Sistema de Tutorias y Modalidades de Grado</dc:title>
  <dc:subject>Tecnologias Web</dc:subject>
  <dc:creator>Edilzon Jorge Katty Quispe; Yamil Nieves Trujillo; Sergio Estrada S.; Ximena Calcina B.</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